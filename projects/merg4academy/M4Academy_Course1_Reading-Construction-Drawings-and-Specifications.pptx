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course exists because most people in the field learned drawings by osmosis — nobody ever taught the system. Ten modules, 45–75 minutes each, ending with a capstone on a real drawing set. Emphasize: this is a hiring-pipeline course — Merge4Ward and regional employers interview completers.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audiences, one system. The mix matters in the classroom: veterans anchor discussions with field stories; new entrants ask the questions veterans forgot they had. Learning outcomes map 1:1 to the course docx — these become the assessment rubric for funders.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pyramid is the whole course in one image. Everything narrows from the cover sheet down to the spec book. Exercise: hand out a sheet index and ask 'where would you look for the fire rating of a corridor door?' — most say drawings; the answer is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Drill: give every student a random sheet and 60 seconds to report sheet number, scale, latest revision date, and drawn-by. Repeat until it's automatic. The 'never scale' rule earns its red color — reproduce a sheet at 90% and watch a scaled measurement go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activity: symbol scavenger hunt on a real legend sheet. Teams race to match 10 plan symbols to legend entries. The 'general notes' row is where instructors should tell a real money-lost story — everyone has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cut-plane mental model fixes 80% of beginner confusion — why door swings look the way they do, why upper cabinets are dashed, why stairs break mid-flight. Physically demonstrate with a shoebox model if teaching in person at Harrison Street.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distinction: an elevation is what you'd photograph from outside; a section is what you'd see if you sawed the building in half. Cut elements draw heavy (poché); elements beyond the cut draw light. Quiz with mixed views until students sort them instantly.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REFERENCE library earns its keep: pull real details from the GENERAL-SHALE guide and the SIP/CLT detail folders and have students find the parent wall section for each. Callout literacy (detail 3 on sheet A-501 = '3/A-501') is the module's exit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four-node loop is the single most useful diagram in the course — it's how estimators, PMs, and inspectors actually think. Grade the drill: full credit only when the student cites sheet numbers for all four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War-story slide. Every instructor should bring one real clash: the duct that met the beam, the panel that blocked the door. The takeaway is professional judgment — knowing when to stop and ask is a skill employers pay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memorize all 50 divisions — memorize the map's logic. Site work lives in the 30s, MEP in the 20s, envelope in 06–08. Timed drill: 'ceramic tile?' → Division 09. 'Anchor bolts?' → 05 or 03 depending. Wrong-but-reasoned answers are teaching gold.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one short spec section (thin brick — use the General Shale guide's companion spec) live in class, part by part. Part 1 tells you what paperwork you owe. Part 2 tells you what you may buy. Part 3 tells you how it must go in. Drawings almost never carry that last third.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roles hard here: shop drawings are contractor/supplier documents — they never replace design drawings. Approval means 'consistent with design intent,' not 'the architect now owns your dimensions.' Exercise: compare a window product data sheet against a spec section and find the two mismatches (planted).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capstone is the credential moment — scores here feed the completion certificate and the employer interview pipeline. Keep the question bank rotating; publish only the rubric.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back to jobs: estimators, field engineers, QC leads, and inspectors all live in these documents daily. Next course in the series: Building Construction Sequence &amp; Inspection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9EAB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M4ACADEMY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C9C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TRAINING SERIES · FLAGSHIP COURSE 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Construction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Drawings &amp; Specifications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502920" y="33375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sheet navigation to CSI specifications — how to find, interpret,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cross-reference, and apply every piece of a construction document set.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AB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partnership with L.E.E.P., Inc.  ·  805 Harrison Street classroom + online modules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people who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EFF1E4"/>
          </a:solidFill>
          <a:ln w="12700">
            <a:solidFill>
              <a:srgbClr val="EFF1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4533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81965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2130552"/>
            <a:ext cx="23682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entering construction careers who need the document system from zero.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EFF1E4"/>
          </a:solidFill>
          <a:ln w="12700">
            <a:solidFill>
              <a:srgbClr val="EFF1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154533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10712" y="181965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contractors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10712" y="2130552"/>
            <a:ext cx="23682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 and small GCs with strong hands but limited plan-reading exposure.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EFF1E4"/>
          </a:solidFill>
          <a:ln w="12700">
            <a:solidFill>
              <a:srgbClr val="EFF1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154533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99632" y="181965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veterans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99632" y="2130552"/>
            <a:ext cx="23682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builders formalizing skills for estimating, QC, and inspections.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end, every participant can: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any sheet using title blocks, indexes, legends, and revision references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callouts from plans to elevations, sections, and enlarged details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one item across tags, schedules, details, and CSI spec sections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when a condition needs an RFI instead of an assumption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 </a:t>
            </a:r>
            <a:pPr indent="0" marL="0">
              <a:buNone/>
            </a:pPr>
            <a:r>
              <a:rPr lang="en-US" sz="85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reading_construction_drawings_and_specifications_training.docx  ·  97_REFERENCES/98_09_OSHA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DOCUMENTS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project, one coordinated document set</a:t>
            </a:r>
            <a:endParaRPr lang="en-US" sz="3000" dirty="0"/>
          </a:p>
        </p:txBody>
      </p:sp>
      <p:pic>
        <p:nvPicPr>
          <p:cNvPr id="4" name="Image 0" descr="assets/d1_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212080" cy="3337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0" y="1600200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Drawings show </a:t>
            </a:r>
            <a:pPr indent="0" marL="0">
              <a:buNone/>
            </a:pPr>
            <a:r>
              <a:rPr lang="en-US" sz="130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pPr indent="0" marL="0">
              <a:buNone/>
            </a:pPr>
            <a:r>
              <a:rPr lang="en-US" sz="130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location, dimensions, relationships.
</a:t>
            </a:r>
            <a:pPr indent="0" marL="0">
              <a:buNone/>
            </a:pPr>
            <a:r>
              <a:rPr lang="en-US" sz="130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 control </a:t>
            </a:r>
            <a:pPr indent="0" marL="0">
              <a:buNone/>
            </a:pPr>
            <a:r>
              <a:rPr lang="en-US" sz="130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pPr indent="0" marL="0">
              <a:buNone/>
            </a:pPr>
            <a:r>
              <a:rPr lang="en-US" sz="130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products, standards, execution, submittals.
</a:t>
            </a:r>
            <a:pPr indent="0" marL="0">
              <a:buNone/>
            </a:pPr>
            <a:r>
              <a:rPr lang="en-US" sz="130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Addenda and revisions </a:t>
            </a:r>
            <a:pPr indent="0" marL="0">
              <a:buNone/>
            </a:pPr>
            <a:r>
              <a:rPr lang="en-US" sz="1300" b="1" dirty="0">
                <a:solidFill>
                  <a:srgbClr val="B0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both</a:t>
            </a:r>
            <a:pPr indent="0" marL="0">
              <a:buNone/>
            </a:pPr>
            <a:r>
              <a:rPr lang="en-US" sz="130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always confirm which issue governs.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 </a:t>
            </a:r>
            <a:pPr indent="0" marL="0">
              <a:buNone/>
            </a:pPr>
            <a:r>
              <a:rPr lang="en-US" sz="85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8HR Blueprint Reading Principles – INST PPT.pdf  ·  ArchitecturalDesign1.pdf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SHEET NAVIGATION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title block is the sheet's ID card</a:t>
            </a:r>
            <a:endParaRPr lang="en-US" sz="3000" dirty="0"/>
          </a:p>
        </p:txBody>
      </p:sp>
      <p:pic>
        <p:nvPicPr>
          <p:cNvPr id="4" name="Image 0" descr="assets/d1_titleb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603504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554480"/>
            <a:ext cx="205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prefixes
</a:t>
            </a:r>
            <a:pPr indent="0" marL="0">
              <a:buNone/>
            </a:pPr>
            <a:r>
              <a:rPr lang="en-US" sz="120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civil · A architectural
S structural · M mechanical
P plumbing · E electrical
</a:t>
            </a:r>
            <a:pPr indent="0" marL="0">
              <a:buNone/>
            </a:pPr>
            <a:r>
              <a:rPr lang="en-US" sz="1300" b="1" dirty="0">
                <a:solidFill>
                  <a:srgbClr val="B0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scale a drawing
</a:t>
            </a:r>
            <a:pPr indent="0" marL="0">
              <a:buNone/>
            </a:pPr>
            <a:r>
              <a:rPr lang="en-US" sz="120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written dimensions. Prints distort; dimensions don't.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 </a:t>
            </a:r>
            <a:pPr indent="0" marL="0">
              <a:buNone/>
            </a:pPr>
            <a:r>
              <a:rPr lang="en-US" sz="85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8HR Blueprint Reading Principles – INST PPT.pdf  ·  pair with a live sheet from GENERAL-SHALE details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SYMBOLS &amp; NOTES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Legends translate the graphics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566928" cy="566928"/>
          </a:xfrm>
          <a:prstGeom prst="ellipse">
            <a:avLst/>
          </a:prstGeom>
          <a:solidFill>
            <a:srgbClr val="5A6B2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36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46304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legends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77393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symbol on a plan has a legend entry — read the legend page first, not last.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566928" cy="566928"/>
          </a:xfrm>
          <a:prstGeom prst="ellipse">
            <a:avLst/>
          </a:prstGeom>
          <a:solidFill>
            <a:srgbClr val="5A6B2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30428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Abbreviations &amp; keynotes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61518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Keynote tags declutter drawings but force you back to the note block. Practice the round trip.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566928" cy="566928"/>
          </a:xfrm>
          <a:prstGeom prst="ellipse">
            <a:avLst/>
          </a:prstGeom>
          <a:solidFill>
            <a:srgbClr val="9EAB0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18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14553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notes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4564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across many sheets. The most expensive mistakes hide in notes nobody read.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566928" cy="566928"/>
          </a:xfrm>
          <a:prstGeom prst="ellipse">
            <a:avLst/>
          </a:prstGeom>
          <a:solidFill>
            <a:srgbClr val="5A6B2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59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98678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clouds &amp; deltas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29768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plus a delta number ties geometry to the revision table in the title block.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 </a:t>
            </a:r>
            <a:pPr indent="0" marL="0">
              <a:buNone/>
            </a:pPr>
            <a:r>
              <a:rPr lang="en-US" sz="85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legend/addendum sheets in course source table  ·  8HR Blueprint Reading Principles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PLANS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 is a horizontal slice</a:t>
            </a:r>
            <a:endParaRPr lang="en-US" sz="3000" dirty="0"/>
          </a:p>
        </p:txBody>
      </p:sp>
      <p:pic>
        <p:nvPicPr>
          <p:cNvPr id="4" name="Image 0" descr="assets/d1_planc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576072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0" y="173736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· foundation · floor · roof — </a:t>
            </a:r>
            <a:pPr indent="0" marL="0">
              <a:buNone/>
            </a:pPr>
            <a:r>
              <a:rPr lang="en-US" sz="12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logic, different level of the cut.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reading plans, hunt for section cuts, detail callouts, and elevation markers — they are the doorways to the rest of the set.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 </a:t>
            </a:r>
            <a:pPr indent="0" marL="0">
              <a:buNone/>
            </a:pPr>
            <a:r>
              <a:rPr lang="en-US" sz="85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ArchitecturalDesign1.pdf  ·  HUD_residential.pdf (plan chapters)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VERTICAL VIEWS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Elevations show faces. Sections show guts.</a:t>
            </a:r>
            <a:endParaRPr lang="en-US" sz="3000" dirty="0"/>
          </a:p>
        </p:txBody>
      </p:sp>
      <p:pic>
        <p:nvPicPr>
          <p:cNvPr id="4" name="Image 0" descr="assets/d1_vi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749808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 </a:t>
            </a:r>
            <a:pPr indent="0" marL="0">
              <a:buNone/>
            </a:pPr>
            <a:r>
              <a:rPr lang="en-US" sz="85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ArchitecturalDesign1.pdf  ·  APA_A535.pdf wall/roof assemblies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DETAILS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the callout: zoom from plan to detail</a:t>
            </a:r>
            <a:endParaRPr lang="en-US" sz="3000" dirty="0"/>
          </a:p>
        </p:txBody>
      </p:sp>
      <p:pic>
        <p:nvPicPr>
          <p:cNvPr id="4" name="Image 0" descr="assets/d1_z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768096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 </a:t>
            </a:r>
            <a:pPr indent="0" marL="0">
              <a:buNone/>
            </a:pPr>
            <a:r>
              <a:rPr lang="en-US" sz="85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GENERAL-SHALE/GS-Thin-Brick-Installation-Guide.pdf  ·  SIP_DETAILS  ·  CLT_DETAILS folders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SCHEDULES &amp; CROSS-REFERENCE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one item through the whole set</a:t>
            </a:r>
            <a:endParaRPr lang="en-US" sz="3000" dirty="0"/>
          </a:p>
        </p:txBody>
      </p:sp>
      <p:pic>
        <p:nvPicPr>
          <p:cNvPr id="4" name="Image 0" descr="assets/d1_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85216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29400" y="164592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tracing drill
</a:t>
            </a:r>
            <a:pPr indent="0" marL="0">
              <a:buNone/>
            </a:pPr>
            <a:r>
              <a:rPr lang="en-US" sz="12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door. Find its plan tag, its schedule row, its head/jamb/sill details, and its spec section.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two disagree — that's not an error to ignore. That's an RFI.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 </a:t>
            </a:r>
            <a:pPr indent="0" marL="0">
              <a:buNone/>
            </a:pPr>
            <a:r>
              <a:rPr lang="en-US" sz="85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8HR Blueprint Reading Principles  ·  course docx Module 6 activities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COORDINATION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Consultant drawings must be read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97480" cy="2286000"/>
          </a:xfrm>
          <a:prstGeom prst="roundRect">
            <a:avLst>
              <a:gd name="adj" fmla="val 2400"/>
            </a:avLst>
          </a:prstGeom>
          <a:solidFill>
            <a:srgbClr val="9EAB05"/>
          </a:solidFill>
          <a:ln w="12700">
            <a:solidFill>
              <a:srgbClr val="5A6B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Openings &amp; penetrations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 meets beam. Sleeve meets footing. Check S + M against A before cutting anything.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508760"/>
            <a:ext cx="2697480" cy="2286000"/>
          </a:xfrm>
          <a:prstGeom prst="roundRect">
            <a:avLst>
              <a:gd name="adj" fmla="val 2400"/>
            </a:avLst>
          </a:prstGeom>
          <a:solidFill>
            <a:srgbClr val="EFF1E4"/>
          </a:solidFill>
          <a:ln w="12700">
            <a:solidFill>
              <a:srgbClr val="5A6B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691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depths &amp; clearances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429000" y="239572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needs service space the architect drew as a closet. Verify early.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697480" cy="2286000"/>
          </a:xfrm>
          <a:prstGeom prst="roundRect">
            <a:avLst>
              <a:gd name="adj" fmla="val 2400"/>
            </a:avLst>
          </a:prstGeom>
          <a:solidFill>
            <a:srgbClr val="EFF1E4"/>
          </a:solidFill>
          <a:ln w="12700">
            <a:solidFill>
              <a:srgbClr val="5A6B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691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&amp; attachment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17920" y="239572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provides blocking? Whose detail governs? Silence between disciplines = your RFI.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rule: recognize when a condition requires clarification rather than assumption. Field improvisation on a coordination conflict is how rework — and litigation — is born.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 </a:t>
            </a:r>
            <a:pPr indent="0" marL="0">
              <a:buNone/>
            </a:pPr>
            <a:r>
              <a:rPr lang="en-US" sz="85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docx Module 7  ·  CSI Practice Guide excerpt (coordination drawings)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SPECIFICATIONS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MasterFormat is your search map</a:t>
            </a:r>
            <a:endParaRPr lang="en-US" sz="3000" dirty="0"/>
          </a:p>
        </p:txBody>
      </p:sp>
      <p:pic>
        <p:nvPicPr>
          <p:cNvPr id="4" name="Image 0" descr="assets/d1_c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777240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 </a:t>
            </a:r>
            <a:pPr indent="0" marL="0">
              <a:buNone/>
            </a:pPr>
            <a:r>
              <a:rPr lang="en-US" sz="85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MasterFormat 2018 divisions PDF  ·  ARCAT CSI spec library (live examples by division)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SPEC ANATOMY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section: General, Products, Execution</a:t>
            </a:r>
            <a:endParaRPr lang="en-US" sz="3000" dirty="0"/>
          </a:p>
        </p:txBody>
      </p:sp>
      <p:pic>
        <p:nvPicPr>
          <p:cNvPr id="4" name="Image 0" descr="assets/d1_3p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758952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 </a:t>
            </a:r>
            <a:pPr indent="0" marL="0">
              <a:buNone/>
            </a:pPr>
            <a:r>
              <a:rPr lang="en-US" sz="85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ARCAT CSI specification examples  ·  CSI Practice Guide excerpt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SUBMITTALS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 drawings prove you read the documents</a:t>
            </a:r>
            <a:endParaRPr lang="en-US" sz="3000" dirty="0"/>
          </a:p>
        </p:txBody>
      </p:sp>
      <p:pic>
        <p:nvPicPr>
          <p:cNvPr id="4" name="Image 0" descr="assets/d1_submit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86384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 </a:t>
            </a:r>
            <a:pPr indent="0" marL="0">
              <a:buNone/>
            </a:pPr>
            <a:r>
              <a:rPr lang="en-US" sz="85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Practice Guide excerpt  ·  course docx Module 9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· FIELD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flags, RFIs, and the capstone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an RFI when you see: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that don't close across a string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referenced but missing from the set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and drawing calling for different products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conditions that contradict the drawings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shown on one discipline's sheets only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00600" y="1463040"/>
            <a:ext cx="3886200" cy="3017520"/>
          </a:xfrm>
          <a:prstGeom prst="roundRect">
            <a:avLst>
              <a:gd name="adj" fmla="val 2424"/>
            </a:avLst>
          </a:prstGeom>
          <a:solidFill>
            <a:srgbClr val="1B1B12"/>
          </a:solidFill>
          <a:ln w="12700">
            <a:solidFill>
              <a:srgbClr val="1B1B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EAB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4920" y="2011680"/>
            <a:ext cx="3337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real drawing package + spec excerpts. Answer practical field questions under time: locate, cross-reference, and flag what's missing.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standard: information found quickly, accurately, and cited by sheet — pages never read in isolation.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 </a:t>
            </a:r>
            <a:pPr indent="0" marL="0">
              <a:buNone/>
            </a:pPr>
            <a:r>
              <a:rPr lang="en-US" sz="850" dirty="0">
                <a:solidFill>
                  <a:srgbClr val="6E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set candidates: GENERAL-SHALE guide + SIP_DETAILS sheets + ARCAT spec excerpts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whole set.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214884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AB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with confidence.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modules · 45–75 min each · marked-up sheet exercises · printed checklists · timed capstone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feeds the M4Academy employer interview pipeline.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M4ACADEMY  ·  A MERGE 4 DESIGN INITIATIVE  ·  IN PARTNERSHIP WITH L.E.E.P., INC.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Construction Drawings &amp; Specifications</dc:title>
  <dc:subject>PptxGenJS Presentation</dc:subject>
  <dc:creator>M4Academy · a Merge 4 Design initiative</dc:creator>
  <cp:lastModifiedBy>M4Academy · a Merge 4 Design initiative</cp:lastModifiedBy>
  <cp:revision>1</cp:revision>
  <dcterms:created xsi:type="dcterms:W3CDTF">2026-07-02T12:56:49Z</dcterms:created>
  <dcterms:modified xsi:type="dcterms:W3CDTF">2026-07-02T12:56:49Z</dcterms:modified>
</cp:coreProperties>
</file>