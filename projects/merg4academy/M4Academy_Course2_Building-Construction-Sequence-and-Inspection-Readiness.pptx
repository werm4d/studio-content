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64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0253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to Course 01. Course 01 teaches the documents; this course teaches the order of the work and the inspection logic behind it. Every module pairs with a printable checklist from the course package — students leave with the same sheets they'll use on real jobs.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phases, four hard gates. The zigzag reads left to right; red labels mark municipal hold points. Everything in the next 50 minutes hangs on this one image — return to it at the start of every module.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unifying rule: if the next step conceals the work, it gets inspected first. Concrete hides rebar. Backfill hides waterproofing. Drywall hides everything. Students who internalize this stop memorizing inspection lists and start predicting them — including in unfamiliar jurisdictions.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1 of 14. Emphasize that pre-construction failures are the cheapest to fix and the most embarrassing to explain — a building set on the wrong side of a setback line is a legal problem, not a construction problem.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life-safety module — teach it with weight. OSHA 2202 and 3150 in the REFERENCE folder are the primary sources. The daily trench checklist is the one sheet in the package designed to be used every single morning, not once per phase.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physics to the inspection: the inspector isn't checking bureaucracy, they're checking the one surface that carries the whole building. Once concrete is placed, verification is impossible — which is exactly why the gate exists 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2. Everything on this wall section disappears under soil within days. Tie to products students will actually see: the ICF and drainage-board literature in 98_2.0_PRODUCTS gives real manufacturer installation requirements to compare against the generic diagram.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is where the manufacturer literature in the REFERENCE folder does the heaviest lifting — APA panel guides, Simpson connector catalogs, engineered-lumber span guides. A quarter-inch error at the sill is a one-inch error at the ridge.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3 is really a cluster: rough plumbing, electrical, mechanical, gas — then framing. Teach the dependency, not just the list. A framing call with an unapproved rough trade is a failed inspection and a lost day, every 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Cladding is the outer skin, not the whole weather barrier — the drainage plane behind it does the real work. Hands-on lab candidate for Harrison Street: flash a mock window opening in teams, then flood-test it. Sill pan first, jambs, head last.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 Ds turn 'looks good to me' into a professional evaluation vocabulary. Field-review drill: photograph five wall conditions around Wilmington, have students name which D each one fails. Details is highlighted because it's where the other four go to die.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4 of the concealment gates. Insulation inspection is the cheapest inspection to pass and the most expensive to skip — tearing out finished drywall to fix a missed inspection is pure loss. Item 5 is red for a reason.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wallet card of the whole course. Every one of these violations has forced someone, somewhere, to demolish finished work at their own cost. Rough approval is not final approval — the sixth rule hiding inside rule five.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checklist package is the course's take-home product and its assessment tool: the capstone asks students to run a mock pre-inspection using the sheets on a staged set of conditions with planted defects. Local code always governs — the sheets ride alongside the approved permit set, never replace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message: inspections aren't obstacles, they're the industry's built-in quality system — and knowing how to pass them first-time is a hireable skill. Pair this course with Course 01 for the full flagship sequence.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12"/>
        </a:solidFill>
        <a:effectLst/>
      </p:bgPr>
    </p:bg>
    <p:spTree>
      <p:nvGrpSpPr>
        <p:cNvPr id="1" name=""/>
        <p:cNvGrpSpPr/>
        <p:nvPr/>
      </p:nvGrpSpPr>
      <p:grpSpPr>
        <a:xfrm>
          <a:off x="0" y="0"/>
          <a:ext cx="0" cy="0"/>
          <a:chOff x="0" y="0"/>
          <a:chExt cx="0" cy="0"/>
        </a:xfrm>
      </p:grpSpPr>
      <p:sp>
        <p:nvSpPr>
          <p:cNvPr id="2" name="Text 0"/>
          <p:cNvSpPr/>
          <p:nvPr/>
        </p:nvSpPr>
        <p:spPr>
          <a:xfrm>
            <a:off x="502920" y="457200"/>
            <a:ext cx="3657600" cy="320040"/>
          </a:xfrm>
          <a:prstGeom prst="rect">
            <a:avLst/>
          </a:prstGeom>
          <a:noFill/>
          <a:ln/>
        </p:spPr>
        <p:txBody>
          <a:bodyPr wrap="square" lIns="0" tIns="0" rIns="0" bIns="0" rtlCol="0" anchor="ctr"/>
          <a:lstStyle/>
          <a:p>
            <a:pPr marL="0" indent="0">
              <a:buNone/>
            </a:pPr>
            <a:r>
              <a:rPr lang="en-US" sz="1400" b="1" kern="0" spc="500" dirty="0">
                <a:solidFill>
                  <a:srgbClr val="9EAB05"/>
                </a:solidFill>
                <a:latin typeface="Calibri" pitchFamily="34" charset="0"/>
                <a:ea typeface="Calibri" pitchFamily="34" charset="-122"/>
                <a:cs typeface="Calibri" pitchFamily="34" charset="-120"/>
              </a:rPr>
              <a:t>M4ACADEMY</a:t>
            </a:r>
            <a:endParaRPr lang="en-US" sz="1400" dirty="0"/>
          </a:p>
        </p:txBody>
      </p:sp>
      <p:sp>
        <p:nvSpPr>
          <p:cNvPr id="3" name="Text 1"/>
          <p:cNvSpPr/>
          <p:nvPr/>
        </p:nvSpPr>
        <p:spPr>
          <a:xfrm>
            <a:off x="502920" y="786384"/>
            <a:ext cx="5486400" cy="274320"/>
          </a:xfrm>
          <a:prstGeom prst="rect">
            <a:avLst/>
          </a:prstGeom>
          <a:noFill/>
          <a:ln/>
        </p:spPr>
        <p:txBody>
          <a:bodyPr wrap="square" lIns="0" tIns="0" rIns="0" bIns="0" rtlCol="0" anchor="ctr"/>
          <a:lstStyle/>
          <a:p>
            <a:pPr marL="0" indent="0">
              <a:buNone/>
            </a:pPr>
            <a:r>
              <a:rPr lang="en-US" sz="1050" kern="0" spc="200" dirty="0">
                <a:solidFill>
                  <a:srgbClr val="C9CDB2"/>
                </a:solidFill>
                <a:latin typeface="Calibri" pitchFamily="34" charset="0"/>
                <a:ea typeface="Calibri" pitchFamily="34" charset="-122"/>
                <a:cs typeface="Calibri" pitchFamily="34" charset="-120"/>
              </a:rPr>
              <a:t>WORKFORCE TRAINING SERIES · FLAGSHIP COURSE 02</a:t>
            </a:r>
            <a:endParaRPr lang="en-US" sz="1050" dirty="0"/>
          </a:p>
        </p:txBody>
      </p:sp>
      <p:sp>
        <p:nvSpPr>
          <p:cNvPr id="4" name="Text 2"/>
          <p:cNvSpPr/>
          <p:nvPr/>
        </p:nvSpPr>
        <p:spPr>
          <a:xfrm>
            <a:off x="502920" y="1554480"/>
            <a:ext cx="8321040" cy="17373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Building Construction Sequence</a:t>
            </a:r>
            <a:endParaRPr lang="en-US" sz="4000" dirty="0"/>
          </a:p>
          <a:p>
            <a:pPr marL="0" indent="0">
              <a:buNone/>
            </a:pPr>
            <a:r>
              <a:rPr lang="en-US" sz="4000" b="1" dirty="0">
                <a:solidFill>
                  <a:srgbClr val="FFFFFF"/>
                </a:solidFill>
                <a:latin typeface="Cambria" pitchFamily="34" charset="0"/>
                <a:ea typeface="Cambria" pitchFamily="34" charset="-122"/>
                <a:cs typeface="Cambria" pitchFamily="34" charset="-120"/>
              </a:rPr>
              <a:t>&amp; Inspection Readiness</a:t>
            </a:r>
            <a:endParaRPr lang="en-US" sz="4000" dirty="0"/>
          </a:p>
        </p:txBody>
      </p:sp>
      <p:sp>
        <p:nvSpPr>
          <p:cNvPr id="5" name="Text 3"/>
          <p:cNvSpPr/>
          <p:nvPr/>
        </p:nvSpPr>
        <p:spPr>
          <a:xfrm>
            <a:off x="502920" y="3337560"/>
            <a:ext cx="7498080" cy="731520"/>
          </a:xfrm>
          <a:prstGeom prst="rect">
            <a:avLst/>
          </a:prstGeom>
          <a:noFill/>
          <a:ln/>
        </p:spPr>
        <p:txBody>
          <a:bodyPr wrap="square" lIns="0" tIns="0" rIns="0" bIns="0" rtlCol="0" anchor="ctr"/>
          <a:lstStyle/>
          <a:p>
            <a:pPr marL="0" indent="0">
              <a:buNone/>
            </a:pPr>
            <a:r>
              <a:rPr lang="en-US" sz="1400" dirty="0">
                <a:solidFill>
                  <a:srgbClr val="DDE0CC"/>
                </a:solidFill>
                <a:latin typeface="Calibri" pitchFamily="34" charset="0"/>
                <a:ea typeface="Calibri" pitchFamily="34" charset="-122"/>
                <a:cs typeface="Calibri" pitchFamily="34" charset="-120"/>
              </a:rPr>
              <a:t>From site readiness to certificate of occupancy — why the work happens in</a:t>
            </a:r>
            <a:endParaRPr lang="en-US" sz="1400" dirty="0"/>
          </a:p>
          <a:p>
            <a:pPr marL="0" indent="0">
              <a:buNone/>
            </a:pPr>
            <a:r>
              <a:rPr lang="en-US" sz="1400" dirty="0">
                <a:solidFill>
                  <a:srgbClr val="DDE0CC"/>
                </a:solidFill>
                <a:latin typeface="Calibri" pitchFamily="34" charset="0"/>
                <a:ea typeface="Calibri" pitchFamily="34" charset="-122"/>
                <a:cs typeface="Calibri" pitchFamily="34" charset="-120"/>
              </a:rPr>
              <a:t>this order, where the inspection gates sit, and how to pass them the first time.</a:t>
            </a:r>
            <a:endParaRPr lang="en-US" sz="1400" dirty="0"/>
          </a:p>
        </p:txBody>
      </p:sp>
      <p:sp>
        <p:nvSpPr>
          <p:cNvPr id="6" name="Text 4"/>
          <p:cNvSpPr/>
          <p:nvPr/>
        </p:nvSpPr>
        <p:spPr>
          <a:xfrm>
            <a:off x="502920" y="4434840"/>
            <a:ext cx="8138160" cy="274320"/>
          </a:xfrm>
          <a:prstGeom prst="rect">
            <a:avLst/>
          </a:prstGeom>
          <a:noFill/>
          <a:ln/>
        </p:spPr>
        <p:txBody>
          <a:bodyPr wrap="square" lIns="0" tIns="0" rIns="0" bIns="0" rtlCol="0" anchor="ctr"/>
          <a:lstStyle/>
          <a:p>
            <a:pPr marL="0" indent="0">
              <a:buNone/>
            </a:pPr>
            <a:r>
              <a:rPr lang="en-US" sz="1100" i="1" dirty="0">
                <a:solidFill>
                  <a:srgbClr val="9EAB05"/>
                </a:solidFill>
                <a:latin typeface="Calibri" pitchFamily="34" charset="0"/>
                <a:ea typeface="Calibri" pitchFamily="34" charset="-122"/>
                <a:cs typeface="Calibri" pitchFamily="34" charset="-120"/>
              </a:rPr>
              <a:t>Delivered in partnership with L.E.E.P., Inc.  ·  14 printable field checklists included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300" dirty="0">
                <a:solidFill>
                  <a:srgbClr val="5A6B2C"/>
                </a:solidFill>
                <a:latin typeface="Calibri" pitchFamily="34" charset="0"/>
                <a:ea typeface="Calibri" pitchFamily="34" charset="-122"/>
                <a:cs typeface="Calibri" pitchFamily="34" charset="-120"/>
              </a:rPr>
              <a:t>THE BIG PICTURE</a:t>
            </a:r>
            <a:endParaRPr lang="en-US" sz="12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1B1B12"/>
                </a:solidFill>
                <a:latin typeface="Cambria" pitchFamily="34" charset="0"/>
                <a:ea typeface="Cambria" pitchFamily="34" charset="-122"/>
                <a:cs typeface="Cambria" pitchFamily="34" charset="-120"/>
              </a:rPr>
              <a:t>The sequence is the syllabus</a:t>
            </a:r>
            <a:endParaRPr lang="en-US" sz="3000" dirty="0"/>
          </a:p>
        </p:txBody>
      </p:sp>
      <p:pic>
        <p:nvPicPr>
          <p:cNvPr id="4" name="Image 0" descr="assets/d2_sequence.png"/>
          <p:cNvPicPr>
            <a:picLocks noChangeAspect="1"/>
          </p:cNvPicPr>
          <p:nvPr/>
        </p:nvPicPr>
        <p:blipFill>
          <a:blip r:embed="rId3"/>
          <a:stretch>
            <a:fillRect/>
          </a:stretch>
        </p:blipFill>
        <p:spPr>
          <a:xfrm>
            <a:off x="502920" y="1371600"/>
            <a:ext cx="8138160" cy="3337560"/>
          </a:xfrm>
          <a:prstGeom prst="rect">
            <a:avLst/>
          </a:prstGeom>
        </p:spPr>
      </p:pic>
      <p:sp>
        <p:nvSpPr>
          <p:cNvPr id="5" name="Text 2"/>
          <p:cNvSpPr/>
          <p:nvPr/>
        </p:nvSpPr>
        <p:spPr>
          <a:xfrm>
            <a:off x="457200" y="4828032"/>
            <a:ext cx="8229600" cy="274320"/>
          </a:xfrm>
          <a:prstGeom prst="rect">
            <a:avLst/>
          </a:prstGeom>
          <a:noFill/>
          <a:ln/>
        </p:spPr>
        <p:txBody>
          <a:bodyPr wrap="square" lIns="0" tIns="0" rIns="0" bIns="0" rtlCol="0" anchor="ctr"/>
          <a:lstStyle/>
          <a:p>
            <a:pPr marL="0" indent="0">
              <a:buNone/>
            </a:pPr>
            <a:r>
              <a:rPr lang="en-US" sz="850" b="1" dirty="0">
                <a:solidFill>
                  <a:srgbClr val="5A6B2C"/>
                </a:solidFill>
                <a:latin typeface="Calibri" pitchFamily="34" charset="0"/>
                <a:ea typeface="Calibri" pitchFamily="34" charset="-122"/>
                <a:cs typeface="Calibri" pitchFamily="34" charset="-120"/>
              </a:rPr>
              <a:t>REFERENCE:  </a:t>
            </a:r>
            <a:r>
              <a:rPr lang="en-US" sz="850" dirty="0">
                <a:solidFill>
                  <a:srgbClr val="6E6E64"/>
                </a:solidFill>
                <a:latin typeface="Calibri" pitchFamily="34" charset="0"/>
                <a:ea typeface="Calibri" pitchFamily="34" charset="-122"/>
                <a:cs typeface="Calibri" pitchFamily="34" charset="-120"/>
              </a:rPr>
              <a:t>constructionSteps.docx  ·  Building Department – Required Inspections.pdf  ·  ConstructionTradesFoundation.pdf</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300" dirty="0">
                <a:solidFill>
                  <a:srgbClr val="5A6B2C"/>
                </a:solidFill>
                <a:latin typeface="Calibri" pitchFamily="34" charset="0"/>
                <a:ea typeface="Calibri" pitchFamily="34" charset="-122"/>
                <a:cs typeface="Calibri" pitchFamily="34" charset="-120"/>
              </a:rPr>
              <a:t>INSPECTION LOGIC</a:t>
            </a:r>
            <a:endParaRPr lang="en-US" sz="12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1B1B12"/>
                </a:solidFill>
                <a:latin typeface="Cambria" pitchFamily="34" charset="0"/>
                <a:ea typeface="Cambria" pitchFamily="34" charset="-122"/>
                <a:cs typeface="Cambria" pitchFamily="34" charset="-120"/>
              </a:rPr>
              <a:t>One question predicts every inspection</a:t>
            </a:r>
            <a:endParaRPr lang="en-US" sz="3000" dirty="0"/>
          </a:p>
        </p:txBody>
      </p:sp>
      <p:pic>
        <p:nvPicPr>
          <p:cNvPr id="4" name="Image 0" descr="assets/d2_gates.png"/>
          <p:cNvPicPr>
            <a:picLocks noChangeAspect="1"/>
          </p:cNvPicPr>
          <p:nvPr/>
        </p:nvPicPr>
        <p:blipFill>
          <a:blip r:embed="rId3"/>
          <a:stretch>
            <a:fillRect/>
          </a:stretch>
        </p:blipFill>
        <p:spPr>
          <a:xfrm>
            <a:off x="548640" y="1371600"/>
            <a:ext cx="8046720" cy="3291840"/>
          </a:xfrm>
          <a:prstGeom prst="rect">
            <a:avLst/>
          </a:prstGeom>
        </p:spPr>
      </p:pic>
      <p:sp>
        <p:nvSpPr>
          <p:cNvPr id="5" name="Text 2"/>
          <p:cNvSpPr/>
          <p:nvPr/>
        </p:nvSpPr>
        <p:spPr>
          <a:xfrm>
            <a:off x="457200" y="4828032"/>
            <a:ext cx="8229600" cy="274320"/>
          </a:xfrm>
          <a:prstGeom prst="rect">
            <a:avLst/>
          </a:prstGeom>
          <a:noFill/>
          <a:ln/>
        </p:spPr>
        <p:txBody>
          <a:bodyPr wrap="square" lIns="0" tIns="0" rIns="0" bIns="0" rtlCol="0" anchor="ctr"/>
          <a:lstStyle/>
          <a:p>
            <a:pPr marL="0" indent="0">
              <a:buNone/>
            </a:pPr>
            <a:r>
              <a:rPr lang="en-US" sz="850" b="1" dirty="0">
                <a:solidFill>
                  <a:srgbClr val="5A6B2C"/>
                </a:solidFill>
                <a:latin typeface="Calibri" pitchFamily="34" charset="0"/>
                <a:ea typeface="Calibri" pitchFamily="34" charset="-122"/>
                <a:cs typeface="Calibri" pitchFamily="34" charset="-120"/>
              </a:rPr>
              <a:t>REFERENCE:  </a:t>
            </a:r>
            <a:r>
              <a:rPr lang="en-US" sz="850" dirty="0">
                <a:solidFill>
                  <a:srgbClr val="6E6E64"/>
                </a:solidFill>
                <a:latin typeface="Calibri" pitchFamily="34" charset="0"/>
                <a:ea typeface="Calibri" pitchFamily="34" charset="-122"/>
                <a:cs typeface="Calibri" pitchFamily="34" charset="-120"/>
              </a:rPr>
              <a:t>Building Department – Required Inspections.pdf (footing → foundation → framing/rough → final)</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300" dirty="0">
                <a:solidFill>
                  <a:srgbClr val="5A6B2C"/>
                </a:solidFill>
                <a:latin typeface="Calibri" pitchFamily="34" charset="0"/>
                <a:ea typeface="Calibri" pitchFamily="34" charset="-122"/>
                <a:cs typeface="Calibri" pitchFamily="34" charset="-120"/>
              </a:rPr>
              <a:t>PHASE 1 · PRE-CONSTRUCTION</a:t>
            </a:r>
            <a:endParaRPr lang="en-US" sz="12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1B1B12"/>
                </a:solidFill>
                <a:latin typeface="Cambria" pitchFamily="34" charset="0"/>
                <a:ea typeface="Cambria" pitchFamily="34" charset="-122"/>
                <a:cs typeface="Cambria" pitchFamily="34" charset="-120"/>
              </a:rPr>
              <a:t>Nothing moves before the paper is right</a:t>
            </a:r>
            <a:endParaRPr lang="en-US" sz="3000" dirty="0"/>
          </a:p>
        </p:txBody>
      </p:sp>
      <p:sp>
        <p:nvSpPr>
          <p:cNvPr id="4" name="Shape 2"/>
          <p:cNvSpPr/>
          <p:nvPr/>
        </p:nvSpPr>
        <p:spPr>
          <a:xfrm>
            <a:off x="457200" y="1463040"/>
            <a:ext cx="457200" cy="457200"/>
          </a:xfrm>
          <a:prstGeom prst="ellipse">
            <a:avLst/>
          </a:prstGeom>
          <a:solidFill>
            <a:srgbClr val="5A6B2C"/>
          </a:solidFill>
          <a:ln/>
        </p:spPr>
        <p:txBody>
          <a:bodyPr/>
          <a:lstStyle/>
          <a:p>
            <a:endParaRPr lang="en-US"/>
          </a:p>
        </p:txBody>
      </p:sp>
      <p:sp>
        <p:nvSpPr>
          <p:cNvPr id="5" name="Text 3"/>
          <p:cNvSpPr/>
          <p:nvPr/>
        </p:nvSpPr>
        <p:spPr>
          <a:xfrm>
            <a:off x="45720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1078992" y="1417320"/>
            <a:ext cx="3474720" cy="274320"/>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Approved plans on site</a:t>
            </a:r>
            <a:endParaRPr lang="en-US" sz="1350" dirty="0"/>
          </a:p>
        </p:txBody>
      </p:sp>
      <p:sp>
        <p:nvSpPr>
          <p:cNvPr id="7" name="Text 5"/>
          <p:cNvSpPr/>
          <p:nvPr/>
        </p:nvSpPr>
        <p:spPr>
          <a:xfrm>
            <a:off x="1078992" y="1691640"/>
            <a:ext cx="3520440" cy="594360"/>
          </a:xfrm>
          <a:prstGeom prst="rect">
            <a:avLst/>
          </a:prstGeom>
          <a:noFill/>
          <a:ln/>
        </p:spPr>
        <p:txBody>
          <a:bodyPr wrap="square" lIns="0" tIns="0" rIns="0" bIns="0" rtlCol="0" anchor="ctr"/>
          <a:lstStyle/>
          <a:p>
            <a:pPr marL="0" indent="0">
              <a:buNone/>
            </a:pPr>
            <a:r>
              <a:rPr lang="en-US" sz="1050" dirty="0">
                <a:solidFill>
                  <a:srgbClr val="6E6E64"/>
                </a:solidFill>
                <a:latin typeface="Calibri" pitchFamily="34" charset="0"/>
                <a:ea typeface="Calibri" pitchFamily="34" charset="-122"/>
                <a:cs typeface="Calibri" pitchFamily="34" charset="-120"/>
              </a:rPr>
              <a:t>The permit set — not the bid set — is the only set that exists now.</a:t>
            </a:r>
            <a:endParaRPr lang="en-US" sz="1050" dirty="0"/>
          </a:p>
        </p:txBody>
      </p:sp>
      <p:sp>
        <p:nvSpPr>
          <p:cNvPr id="8" name="Shape 6"/>
          <p:cNvSpPr/>
          <p:nvPr/>
        </p:nvSpPr>
        <p:spPr>
          <a:xfrm>
            <a:off x="457200" y="2542032"/>
            <a:ext cx="457200" cy="457200"/>
          </a:xfrm>
          <a:prstGeom prst="ellipse">
            <a:avLst/>
          </a:prstGeom>
          <a:solidFill>
            <a:srgbClr val="5A6B2C"/>
          </a:solidFill>
          <a:ln/>
        </p:spPr>
        <p:txBody>
          <a:bodyPr/>
          <a:lstStyle/>
          <a:p>
            <a:endParaRPr lang="en-US"/>
          </a:p>
        </p:txBody>
      </p:sp>
      <p:sp>
        <p:nvSpPr>
          <p:cNvPr id="9" name="Text 7"/>
          <p:cNvSpPr/>
          <p:nvPr/>
        </p:nvSpPr>
        <p:spPr>
          <a:xfrm>
            <a:off x="457200" y="254203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1078992" y="2496312"/>
            <a:ext cx="3474720" cy="274320"/>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Permit active &amp; posted</a:t>
            </a:r>
            <a:endParaRPr lang="en-US" sz="1350" dirty="0"/>
          </a:p>
        </p:txBody>
      </p:sp>
      <p:sp>
        <p:nvSpPr>
          <p:cNvPr id="11" name="Text 9"/>
          <p:cNvSpPr/>
          <p:nvPr/>
        </p:nvSpPr>
        <p:spPr>
          <a:xfrm>
            <a:off x="1078992" y="2770632"/>
            <a:ext cx="3520440" cy="594360"/>
          </a:xfrm>
          <a:prstGeom prst="rect">
            <a:avLst/>
          </a:prstGeom>
          <a:noFill/>
          <a:ln/>
        </p:spPr>
        <p:txBody>
          <a:bodyPr wrap="square" lIns="0" tIns="0" rIns="0" bIns="0" rtlCol="0" anchor="ctr"/>
          <a:lstStyle/>
          <a:p>
            <a:pPr marL="0" indent="0">
              <a:buNone/>
            </a:pPr>
            <a:r>
              <a:rPr lang="en-US" sz="1050" dirty="0">
                <a:solidFill>
                  <a:srgbClr val="6E6E64"/>
                </a:solidFill>
                <a:latin typeface="Calibri" pitchFamily="34" charset="0"/>
                <a:ea typeface="Calibri" pitchFamily="34" charset="-122"/>
                <a:cs typeface="Calibri" pitchFamily="34" charset="-120"/>
              </a:rPr>
              <a:t>Verify scope matches what you're about to build.</a:t>
            </a:r>
            <a:endParaRPr lang="en-US" sz="1050" dirty="0"/>
          </a:p>
        </p:txBody>
      </p:sp>
      <p:sp>
        <p:nvSpPr>
          <p:cNvPr id="12" name="Shape 10"/>
          <p:cNvSpPr/>
          <p:nvPr/>
        </p:nvSpPr>
        <p:spPr>
          <a:xfrm>
            <a:off x="457200" y="3621024"/>
            <a:ext cx="457200" cy="457200"/>
          </a:xfrm>
          <a:prstGeom prst="ellipse">
            <a:avLst/>
          </a:prstGeom>
          <a:solidFill>
            <a:srgbClr val="5A6B2C"/>
          </a:solidFill>
          <a:ln/>
        </p:spPr>
        <p:txBody>
          <a:bodyPr/>
          <a:lstStyle/>
          <a:p>
            <a:endParaRPr lang="en-US"/>
          </a:p>
        </p:txBody>
      </p:sp>
      <p:sp>
        <p:nvSpPr>
          <p:cNvPr id="13" name="Text 11"/>
          <p:cNvSpPr/>
          <p:nvPr/>
        </p:nvSpPr>
        <p:spPr>
          <a:xfrm>
            <a:off x="457200" y="362102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1078992" y="3575304"/>
            <a:ext cx="3474720" cy="274320"/>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Setbacks &amp; layout staked</a:t>
            </a:r>
            <a:endParaRPr lang="en-US" sz="1350" dirty="0"/>
          </a:p>
        </p:txBody>
      </p:sp>
      <p:sp>
        <p:nvSpPr>
          <p:cNvPr id="15" name="Text 13"/>
          <p:cNvSpPr/>
          <p:nvPr/>
        </p:nvSpPr>
        <p:spPr>
          <a:xfrm>
            <a:off x="1078992" y="3849624"/>
            <a:ext cx="3520440" cy="594360"/>
          </a:xfrm>
          <a:prstGeom prst="rect">
            <a:avLst/>
          </a:prstGeom>
          <a:noFill/>
          <a:ln/>
        </p:spPr>
        <p:txBody>
          <a:bodyPr wrap="square" lIns="0" tIns="0" rIns="0" bIns="0" rtlCol="0" anchor="ctr"/>
          <a:lstStyle/>
          <a:p>
            <a:pPr marL="0" indent="0">
              <a:buNone/>
            </a:pPr>
            <a:r>
              <a:rPr lang="en-US" sz="1050" dirty="0">
                <a:solidFill>
                  <a:srgbClr val="6E6E64"/>
                </a:solidFill>
                <a:latin typeface="Calibri" pitchFamily="34" charset="0"/>
                <a:ea typeface="Calibri" pitchFamily="34" charset="-122"/>
                <a:cs typeface="Calibri" pitchFamily="34" charset="-120"/>
              </a:rPr>
              <a:t>Property lines confirmed before the first bucket of soil moves.</a:t>
            </a:r>
            <a:endParaRPr lang="en-US" sz="1050" dirty="0"/>
          </a:p>
        </p:txBody>
      </p:sp>
      <p:sp>
        <p:nvSpPr>
          <p:cNvPr id="16" name="Shape 14"/>
          <p:cNvSpPr/>
          <p:nvPr/>
        </p:nvSpPr>
        <p:spPr>
          <a:xfrm>
            <a:off x="4709160" y="1463040"/>
            <a:ext cx="457200" cy="457200"/>
          </a:xfrm>
          <a:prstGeom prst="ellipse">
            <a:avLst/>
          </a:prstGeom>
          <a:solidFill>
            <a:srgbClr val="5A6B2C"/>
          </a:solidFill>
          <a:ln/>
        </p:spPr>
        <p:txBody>
          <a:bodyPr/>
          <a:lstStyle/>
          <a:p>
            <a:endParaRPr lang="en-US"/>
          </a:p>
        </p:txBody>
      </p:sp>
      <p:sp>
        <p:nvSpPr>
          <p:cNvPr id="17" name="Text 15"/>
          <p:cNvSpPr/>
          <p:nvPr/>
        </p:nvSpPr>
        <p:spPr>
          <a:xfrm>
            <a:off x="470916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5330952" y="1417320"/>
            <a:ext cx="3474720" cy="274320"/>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Utilities located</a:t>
            </a:r>
            <a:endParaRPr lang="en-US" sz="1350" dirty="0"/>
          </a:p>
        </p:txBody>
      </p:sp>
      <p:sp>
        <p:nvSpPr>
          <p:cNvPr id="19" name="Text 17"/>
          <p:cNvSpPr/>
          <p:nvPr/>
        </p:nvSpPr>
        <p:spPr>
          <a:xfrm>
            <a:off x="5330952" y="1691640"/>
            <a:ext cx="3520440" cy="594360"/>
          </a:xfrm>
          <a:prstGeom prst="rect">
            <a:avLst/>
          </a:prstGeom>
          <a:noFill/>
          <a:ln/>
        </p:spPr>
        <p:txBody>
          <a:bodyPr wrap="square" lIns="0" tIns="0" rIns="0" bIns="0" rtlCol="0" anchor="ctr"/>
          <a:lstStyle/>
          <a:p>
            <a:pPr marL="0" indent="0">
              <a:buNone/>
            </a:pPr>
            <a:r>
              <a:rPr lang="en-US" sz="1050" dirty="0">
                <a:solidFill>
                  <a:srgbClr val="6E6E64"/>
                </a:solidFill>
                <a:latin typeface="Calibri" pitchFamily="34" charset="0"/>
                <a:ea typeface="Calibri" pitchFamily="34" charset="-122"/>
                <a:cs typeface="Calibri" pitchFamily="34" charset="-120"/>
              </a:rPr>
              <a:t>Call before you dig. Every time. No exceptions.</a:t>
            </a:r>
            <a:endParaRPr lang="en-US" sz="1050" dirty="0"/>
          </a:p>
        </p:txBody>
      </p:sp>
      <p:sp>
        <p:nvSpPr>
          <p:cNvPr id="20" name="Shape 18"/>
          <p:cNvSpPr/>
          <p:nvPr/>
        </p:nvSpPr>
        <p:spPr>
          <a:xfrm>
            <a:off x="4709160" y="2542032"/>
            <a:ext cx="457200" cy="457200"/>
          </a:xfrm>
          <a:prstGeom prst="ellipse">
            <a:avLst/>
          </a:prstGeom>
          <a:solidFill>
            <a:srgbClr val="5A6B2C"/>
          </a:solidFill>
          <a:ln/>
        </p:spPr>
        <p:txBody>
          <a:bodyPr/>
          <a:lstStyle/>
          <a:p>
            <a:endParaRPr lang="en-US"/>
          </a:p>
        </p:txBody>
      </p:sp>
      <p:sp>
        <p:nvSpPr>
          <p:cNvPr id="21" name="Text 19"/>
          <p:cNvSpPr/>
          <p:nvPr/>
        </p:nvSpPr>
        <p:spPr>
          <a:xfrm>
            <a:off x="4709160" y="254203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5330952" y="2496312"/>
            <a:ext cx="3474720" cy="274320"/>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Erosion controls installed</a:t>
            </a:r>
            <a:endParaRPr lang="en-US" sz="1350" dirty="0"/>
          </a:p>
        </p:txBody>
      </p:sp>
      <p:sp>
        <p:nvSpPr>
          <p:cNvPr id="23" name="Text 21"/>
          <p:cNvSpPr/>
          <p:nvPr/>
        </p:nvSpPr>
        <p:spPr>
          <a:xfrm>
            <a:off x="5330952" y="2770632"/>
            <a:ext cx="3520440" cy="594360"/>
          </a:xfrm>
          <a:prstGeom prst="rect">
            <a:avLst/>
          </a:prstGeom>
          <a:noFill/>
          <a:ln/>
        </p:spPr>
        <p:txBody>
          <a:bodyPr wrap="square" lIns="0" tIns="0" rIns="0" bIns="0" rtlCol="0" anchor="ctr"/>
          <a:lstStyle/>
          <a:p>
            <a:pPr marL="0" indent="0">
              <a:buNone/>
            </a:pPr>
            <a:r>
              <a:rPr lang="en-US" sz="1050" dirty="0">
                <a:solidFill>
                  <a:srgbClr val="6E6E64"/>
                </a:solidFill>
                <a:latin typeface="Calibri" pitchFamily="34" charset="0"/>
                <a:ea typeface="Calibri" pitchFamily="34" charset="-122"/>
                <a:cs typeface="Calibri" pitchFamily="34" charset="-120"/>
              </a:rPr>
              <a:t>Silt fence and inlet protection go in before disturbance, not after the complaint.</a:t>
            </a:r>
            <a:endParaRPr lang="en-US" sz="1050" dirty="0"/>
          </a:p>
        </p:txBody>
      </p:sp>
      <p:sp>
        <p:nvSpPr>
          <p:cNvPr id="24" name="Shape 22"/>
          <p:cNvSpPr/>
          <p:nvPr/>
        </p:nvSpPr>
        <p:spPr>
          <a:xfrm>
            <a:off x="4709160" y="3621024"/>
            <a:ext cx="457200" cy="457200"/>
          </a:xfrm>
          <a:prstGeom prst="ellipse">
            <a:avLst/>
          </a:prstGeom>
          <a:solidFill>
            <a:srgbClr val="5A6B2C"/>
          </a:solidFill>
          <a:ln/>
        </p:spPr>
        <p:txBody>
          <a:bodyPr/>
          <a:lstStyle/>
          <a:p>
            <a:endParaRPr lang="en-US"/>
          </a:p>
        </p:txBody>
      </p:sp>
      <p:sp>
        <p:nvSpPr>
          <p:cNvPr id="25" name="Text 23"/>
          <p:cNvSpPr/>
          <p:nvPr/>
        </p:nvSpPr>
        <p:spPr>
          <a:xfrm>
            <a:off x="4709160" y="362102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6" name="Text 24"/>
          <p:cNvSpPr/>
          <p:nvPr/>
        </p:nvSpPr>
        <p:spPr>
          <a:xfrm>
            <a:off x="5330952" y="3575304"/>
            <a:ext cx="3474720" cy="274320"/>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Staging &amp; spoil plan</a:t>
            </a:r>
            <a:endParaRPr lang="en-US" sz="1350" dirty="0"/>
          </a:p>
        </p:txBody>
      </p:sp>
      <p:sp>
        <p:nvSpPr>
          <p:cNvPr id="27" name="Text 25"/>
          <p:cNvSpPr/>
          <p:nvPr/>
        </p:nvSpPr>
        <p:spPr>
          <a:xfrm>
            <a:off x="5330952" y="3849624"/>
            <a:ext cx="3520440" cy="594360"/>
          </a:xfrm>
          <a:prstGeom prst="rect">
            <a:avLst/>
          </a:prstGeom>
          <a:noFill/>
          <a:ln/>
        </p:spPr>
        <p:txBody>
          <a:bodyPr wrap="square" lIns="0" tIns="0" rIns="0" bIns="0" rtlCol="0" anchor="ctr"/>
          <a:lstStyle/>
          <a:p>
            <a:pPr marL="0" indent="0">
              <a:buNone/>
            </a:pPr>
            <a:r>
              <a:rPr lang="en-US" sz="1050" dirty="0">
                <a:solidFill>
                  <a:srgbClr val="6E6E64"/>
                </a:solidFill>
                <a:latin typeface="Calibri" pitchFamily="34" charset="0"/>
                <a:ea typeface="Calibri" pitchFamily="34" charset="-122"/>
                <a:cs typeface="Calibri" pitchFamily="34" charset="-120"/>
              </a:rPr>
              <a:t>Where deliveries land and dirt piles live shapes the whole site's safety.</a:t>
            </a:r>
            <a:endParaRPr lang="en-US" sz="1050" dirty="0"/>
          </a:p>
        </p:txBody>
      </p:sp>
      <p:sp>
        <p:nvSpPr>
          <p:cNvPr id="28" name="Text 26"/>
          <p:cNvSpPr/>
          <p:nvPr/>
        </p:nvSpPr>
        <p:spPr>
          <a:xfrm>
            <a:off x="457200" y="4828032"/>
            <a:ext cx="8229600" cy="274320"/>
          </a:xfrm>
          <a:prstGeom prst="rect">
            <a:avLst/>
          </a:prstGeom>
          <a:noFill/>
          <a:ln/>
        </p:spPr>
        <p:txBody>
          <a:bodyPr wrap="square" lIns="0" tIns="0" rIns="0" bIns="0" rtlCol="0" anchor="ctr"/>
          <a:lstStyle/>
          <a:p>
            <a:pPr marL="0" indent="0">
              <a:buNone/>
            </a:pPr>
            <a:r>
              <a:rPr lang="en-US" sz="850" b="1" dirty="0">
                <a:solidFill>
                  <a:srgbClr val="5A6B2C"/>
                </a:solidFill>
                <a:latin typeface="Calibri" pitchFamily="34" charset="0"/>
                <a:ea typeface="Calibri" pitchFamily="34" charset="-122"/>
                <a:cs typeface="Calibri" pitchFamily="34" charset="-120"/>
              </a:rPr>
              <a:t>REFERENCE:  </a:t>
            </a:r>
            <a:r>
              <a:rPr lang="en-US" sz="850" dirty="0">
                <a:solidFill>
                  <a:srgbClr val="6E6E64"/>
                </a:solidFill>
                <a:latin typeface="Calibri" pitchFamily="34" charset="0"/>
                <a:ea typeface="Calibri" pitchFamily="34" charset="-122"/>
                <a:cs typeface="Calibri" pitchFamily="34" charset="-120"/>
              </a:rPr>
              <a:t>building_construction_phase_checklists.docx §1  ·  Utah-Public-Works_Standards (layout &amp; controls)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300" dirty="0">
                <a:solidFill>
                  <a:srgbClr val="5A6B2C"/>
                </a:solidFill>
                <a:latin typeface="Calibri" pitchFamily="34" charset="0"/>
                <a:ea typeface="Calibri" pitchFamily="34" charset="-122"/>
                <a:cs typeface="Calibri" pitchFamily="34" charset="-120"/>
              </a:rPr>
              <a:t>PHASE 2 · EXCAVATION</a:t>
            </a:r>
            <a:endParaRPr lang="en-US" sz="12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1B1B12"/>
                </a:solidFill>
                <a:latin typeface="Cambria" pitchFamily="34" charset="0"/>
                <a:ea typeface="Cambria" pitchFamily="34" charset="-122"/>
                <a:cs typeface="Cambria" pitchFamily="34" charset="-120"/>
              </a:rPr>
              <a:t>Trench rules: 5 · 4 · 3 · 2 · daily</a:t>
            </a:r>
            <a:endParaRPr lang="en-US" sz="3000" dirty="0"/>
          </a:p>
        </p:txBody>
      </p:sp>
      <p:pic>
        <p:nvPicPr>
          <p:cNvPr id="4" name="Image 0" descr="assets/d2_trench.png"/>
          <p:cNvPicPr>
            <a:picLocks noChangeAspect="1"/>
          </p:cNvPicPr>
          <p:nvPr/>
        </p:nvPicPr>
        <p:blipFill>
          <a:blip r:embed="rId3"/>
          <a:stretch>
            <a:fillRect/>
          </a:stretch>
        </p:blipFill>
        <p:spPr>
          <a:xfrm>
            <a:off x="731520" y="1325880"/>
            <a:ext cx="5806440" cy="3383280"/>
          </a:xfrm>
          <a:prstGeom prst="rect">
            <a:avLst/>
          </a:prstGeom>
        </p:spPr>
      </p:pic>
      <p:sp>
        <p:nvSpPr>
          <p:cNvPr id="5" name="Text 2"/>
          <p:cNvSpPr/>
          <p:nvPr/>
        </p:nvSpPr>
        <p:spPr>
          <a:xfrm>
            <a:off x="6675120" y="1554480"/>
            <a:ext cx="2103120" cy="3017520"/>
          </a:xfrm>
          <a:prstGeom prst="rect">
            <a:avLst/>
          </a:prstGeom>
          <a:noFill/>
          <a:ln/>
        </p:spPr>
        <p:txBody>
          <a:bodyPr wrap="square" lIns="0" tIns="0" rIns="0" bIns="0" rtlCol="0" anchor="ctr"/>
          <a:lstStyle/>
          <a:p>
            <a:pPr marL="0" indent="0">
              <a:buNone/>
            </a:pPr>
            <a:r>
              <a:rPr lang="en-US" sz="1300" b="1" dirty="0">
                <a:solidFill>
                  <a:srgbClr val="B0442E"/>
                </a:solidFill>
                <a:latin typeface="Calibri" pitchFamily="34" charset="0"/>
                <a:ea typeface="Calibri" pitchFamily="34" charset="-122"/>
                <a:cs typeface="Calibri" pitchFamily="34" charset="-120"/>
              </a:rPr>
              <a:t>The competent person
</a:t>
            </a:r>
            <a:r>
              <a:rPr lang="en-US" sz="1150" dirty="0">
                <a:solidFill>
                  <a:srgbClr val="1B1B12"/>
                </a:solidFill>
                <a:latin typeface="Calibri" pitchFamily="34" charset="0"/>
                <a:ea typeface="Calibri" pitchFamily="34" charset="-122"/>
                <a:cs typeface="Calibri" pitchFamily="34" charset="-120"/>
              </a:rPr>
              <a:t>Named, trained, and on site before anyone enters. Inspects daily and after rain, vibration, or water intrusion — trench hazards change during the shift.
</a:t>
            </a:r>
            <a:r>
              <a:rPr lang="en-US" sz="1150" i="1" dirty="0">
                <a:solidFill>
                  <a:srgbClr val="5A6B2C"/>
                </a:solidFill>
                <a:latin typeface="Calibri" pitchFamily="34" charset="0"/>
                <a:ea typeface="Calibri" pitchFamily="34" charset="-122"/>
                <a:cs typeface="Calibri" pitchFamily="34" charset="-120"/>
              </a:rPr>
              <a:t>Trench collapses are measured in seconds and tons.</a:t>
            </a:r>
            <a:endParaRPr lang="en-US" sz="1300" dirty="0"/>
          </a:p>
        </p:txBody>
      </p:sp>
      <p:sp>
        <p:nvSpPr>
          <p:cNvPr id="6" name="Text 3"/>
          <p:cNvSpPr/>
          <p:nvPr/>
        </p:nvSpPr>
        <p:spPr>
          <a:xfrm>
            <a:off x="457200" y="4828032"/>
            <a:ext cx="8229600" cy="274320"/>
          </a:xfrm>
          <a:prstGeom prst="rect">
            <a:avLst/>
          </a:prstGeom>
          <a:noFill/>
          <a:ln/>
        </p:spPr>
        <p:txBody>
          <a:bodyPr wrap="square" lIns="0" tIns="0" rIns="0" bIns="0" rtlCol="0" anchor="ctr"/>
          <a:lstStyle/>
          <a:p>
            <a:pPr marL="0" indent="0">
              <a:buNone/>
            </a:pPr>
            <a:r>
              <a:rPr lang="en-US" sz="850" b="1" dirty="0">
                <a:solidFill>
                  <a:srgbClr val="5A6B2C"/>
                </a:solidFill>
                <a:latin typeface="Calibri" pitchFamily="34" charset="0"/>
                <a:ea typeface="Calibri" pitchFamily="34" charset="-122"/>
                <a:cs typeface="Calibri" pitchFamily="34" charset="-120"/>
              </a:rPr>
              <a:t>REFERENCE:  </a:t>
            </a:r>
            <a:r>
              <a:rPr lang="en-US" sz="850" dirty="0">
                <a:solidFill>
                  <a:srgbClr val="6E6E64"/>
                </a:solidFill>
                <a:latin typeface="Calibri" pitchFamily="34" charset="0"/>
                <a:ea typeface="Calibri" pitchFamily="34" charset="-122"/>
                <a:cs typeface="Calibri" pitchFamily="34" charset="-120"/>
              </a:rPr>
              <a:t>OSHA 2202 · OSHA 3150 (excavations)  ·  checklists docx §2 (daily trench sheet)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300" dirty="0">
                <a:solidFill>
                  <a:srgbClr val="5A6B2C"/>
                </a:solidFill>
                <a:latin typeface="Calibri" pitchFamily="34" charset="0"/>
                <a:ea typeface="Calibri" pitchFamily="34" charset="-122"/>
                <a:cs typeface="Calibri" pitchFamily="34" charset="-120"/>
              </a:rPr>
              <a:t>PHASE 3 · FOOTINGS</a:t>
            </a:r>
            <a:endParaRPr lang="en-US" sz="12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1B1B12"/>
                </a:solidFill>
                <a:latin typeface="Cambria" pitchFamily="34" charset="0"/>
                <a:ea typeface="Cambria" pitchFamily="34" charset="-122"/>
                <a:cs typeface="Cambria" pitchFamily="34" charset="-120"/>
              </a:rPr>
              <a:t>The load path becomes physical</a:t>
            </a:r>
            <a:endParaRPr lang="en-US" sz="3000" dirty="0"/>
          </a:p>
        </p:txBody>
      </p:sp>
      <p:pic>
        <p:nvPicPr>
          <p:cNvPr id="4" name="Image 0" descr="assets/d2_loadpath.png"/>
          <p:cNvPicPr>
            <a:picLocks noChangeAspect="1"/>
          </p:cNvPicPr>
          <p:nvPr/>
        </p:nvPicPr>
        <p:blipFill>
          <a:blip r:embed="rId3"/>
          <a:stretch>
            <a:fillRect/>
          </a:stretch>
        </p:blipFill>
        <p:spPr>
          <a:xfrm>
            <a:off x="777240" y="1325880"/>
            <a:ext cx="5577840" cy="3383280"/>
          </a:xfrm>
          <a:prstGeom prst="rect">
            <a:avLst/>
          </a:prstGeom>
        </p:spPr>
      </p:pic>
      <p:sp>
        <p:nvSpPr>
          <p:cNvPr id="5" name="Text 2"/>
          <p:cNvSpPr/>
          <p:nvPr/>
        </p:nvSpPr>
        <p:spPr>
          <a:xfrm>
            <a:off x="6537960" y="1554480"/>
            <a:ext cx="2240280" cy="3017520"/>
          </a:xfrm>
          <a:prstGeom prst="rect">
            <a:avLst/>
          </a:prstGeom>
          <a:noFill/>
          <a:ln/>
        </p:spPr>
        <p:txBody>
          <a:bodyPr wrap="square" lIns="0" tIns="0" rIns="0" bIns="0" rtlCol="0" anchor="ctr"/>
          <a:lstStyle/>
          <a:p>
            <a:pPr marL="0" indent="0">
              <a:buNone/>
            </a:pPr>
            <a:r>
              <a:rPr lang="en-US" sz="1300" b="1" dirty="0">
                <a:solidFill>
                  <a:srgbClr val="B0442E"/>
                </a:solidFill>
                <a:latin typeface="Calibri" pitchFamily="34" charset="0"/>
                <a:ea typeface="Calibri" pitchFamily="34" charset="-122"/>
                <a:cs typeface="Calibri" pitchFamily="34" charset="-120"/>
              </a:rPr>
              <a:t>Gate 1 readiness
</a:t>
            </a:r>
            <a:r>
              <a:rPr lang="en-US" sz="1150" dirty="0">
                <a:solidFill>
                  <a:srgbClr val="1B1B12"/>
                </a:solidFill>
                <a:latin typeface="Calibri" pitchFamily="34" charset="0"/>
                <a:ea typeface="Calibri" pitchFamily="34" charset="-122"/>
                <a:cs typeface="Calibri" pitchFamily="34" charset="-120"/>
              </a:rPr>
              <a:t>Trench to line and grade · bearing surface clean and dry · forms set · rebar placed and visible · grounding electrode in
</a:t>
            </a:r>
            <a:r>
              <a:rPr lang="en-US" sz="1150" b="1" dirty="0">
                <a:solidFill>
                  <a:srgbClr val="5A6B2C"/>
                </a:solidFill>
                <a:latin typeface="Calibri" pitchFamily="34" charset="0"/>
                <a:ea typeface="Calibri" pitchFamily="34" charset="-122"/>
                <a:cs typeface="Calibri" pitchFamily="34" charset="-120"/>
              </a:rPr>
              <a:t>Concrete waits for the approval — not the other way around.</a:t>
            </a:r>
            <a:endParaRPr lang="en-US" sz="1300" dirty="0"/>
          </a:p>
        </p:txBody>
      </p:sp>
      <p:sp>
        <p:nvSpPr>
          <p:cNvPr id="6" name="Text 3"/>
          <p:cNvSpPr/>
          <p:nvPr/>
        </p:nvSpPr>
        <p:spPr>
          <a:xfrm>
            <a:off x="457200" y="4828032"/>
            <a:ext cx="8229600" cy="274320"/>
          </a:xfrm>
          <a:prstGeom prst="rect">
            <a:avLst/>
          </a:prstGeom>
          <a:noFill/>
          <a:ln/>
        </p:spPr>
        <p:txBody>
          <a:bodyPr wrap="square" lIns="0" tIns="0" rIns="0" bIns="0" rtlCol="0" anchor="ctr"/>
          <a:lstStyle/>
          <a:p>
            <a:pPr marL="0" indent="0">
              <a:buNone/>
            </a:pPr>
            <a:r>
              <a:rPr lang="en-US" sz="850" b="1" dirty="0">
                <a:solidFill>
                  <a:srgbClr val="5A6B2C"/>
                </a:solidFill>
                <a:latin typeface="Calibri" pitchFamily="34" charset="0"/>
                <a:ea typeface="Calibri" pitchFamily="34" charset="-122"/>
                <a:cs typeface="Calibri" pitchFamily="34" charset="-120"/>
              </a:rPr>
              <a:t>REFERENCE:  </a:t>
            </a:r>
            <a:r>
              <a:rPr lang="en-US" sz="850" dirty="0">
                <a:solidFill>
                  <a:srgbClr val="6E6E64"/>
                </a:solidFill>
                <a:latin typeface="Calibri" pitchFamily="34" charset="0"/>
                <a:ea typeface="Calibri" pitchFamily="34" charset="-122"/>
                <a:cs typeface="Calibri" pitchFamily="34" charset="-120"/>
              </a:rPr>
              <a:t>HUD_residential.pdf (foundations)  ·  checklists docx §3  ·  Building Dept inspections PDF</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300" dirty="0">
                <a:solidFill>
                  <a:srgbClr val="5A6B2C"/>
                </a:solidFill>
                <a:latin typeface="Calibri" pitchFamily="34" charset="0"/>
                <a:ea typeface="Calibri" pitchFamily="34" charset="-122"/>
                <a:cs typeface="Calibri" pitchFamily="34" charset="-120"/>
              </a:rPr>
              <a:t>PHASE 4 · FOUNDATION</a:t>
            </a:r>
            <a:endParaRPr lang="en-US" sz="12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1B1B12"/>
                </a:solidFill>
                <a:latin typeface="Cambria" pitchFamily="34" charset="0"/>
                <a:ea typeface="Cambria" pitchFamily="34" charset="-122"/>
                <a:cs typeface="Cambria" pitchFamily="34" charset="-120"/>
              </a:rPr>
              <a:t>One chance to get below-grade right</a:t>
            </a:r>
            <a:endParaRPr lang="en-US" sz="3000" dirty="0"/>
          </a:p>
        </p:txBody>
      </p:sp>
      <p:pic>
        <p:nvPicPr>
          <p:cNvPr id="4" name="Image 0" descr="assets/d2_drainage.png"/>
          <p:cNvPicPr>
            <a:picLocks noChangeAspect="1"/>
          </p:cNvPicPr>
          <p:nvPr/>
        </p:nvPicPr>
        <p:blipFill>
          <a:blip r:embed="rId3"/>
          <a:stretch>
            <a:fillRect/>
          </a:stretch>
        </p:blipFill>
        <p:spPr>
          <a:xfrm>
            <a:off x="685800" y="1325880"/>
            <a:ext cx="5852160" cy="3383280"/>
          </a:xfrm>
          <a:prstGeom prst="rect">
            <a:avLst/>
          </a:prstGeom>
        </p:spPr>
      </p:pic>
      <p:sp>
        <p:nvSpPr>
          <p:cNvPr id="5" name="Text 2"/>
          <p:cNvSpPr/>
          <p:nvPr/>
        </p:nvSpPr>
        <p:spPr>
          <a:xfrm>
            <a:off x="6675120" y="1645920"/>
            <a:ext cx="2103120" cy="2743200"/>
          </a:xfrm>
          <a:prstGeom prst="rect">
            <a:avLst/>
          </a:prstGeom>
          <a:noFill/>
          <a:ln/>
        </p:spPr>
        <p:txBody>
          <a:bodyPr wrap="square" lIns="0" tIns="0" rIns="0" bIns="0" rtlCol="0" anchor="ctr"/>
          <a:lstStyle/>
          <a:p>
            <a:pPr marL="0" indent="0">
              <a:buNone/>
            </a:pPr>
            <a:r>
              <a:rPr lang="en-US" sz="1300" b="1" dirty="0">
                <a:solidFill>
                  <a:srgbClr val="B0442E"/>
                </a:solidFill>
                <a:latin typeface="Calibri" pitchFamily="34" charset="0"/>
                <a:ea typeface="Calibri" pitchFamily="34" charset="-122"/>
                <a:cs typeface="Calibri" pitchFamily="34" charset="-120"/>
              </a:rPr>
              <a:t>Before backfill:
</a:t>
            </a:r>
            <a:r>
              <a:rPr lang="en-US" sz="1150" dirty="0">
                <a:solidFill>
                  <a:srgbClr val="1B1B12"/>
                </a:solidFill>
                <a:latin typeface="Calibri" pitchFamily="34" charset="0"/>
                <a:ea typeface="Calibri" pitchFamily="34" charset="-122"/>
                <a:cs typeface="Calibri" pitchFamily="34" charset="-120"/>
              </a:rPr>
              <a:t>Waterproofing complete · drain tile at footing · under-slab plumbing in and visible · foundation insulation placed · engineer letter secured where required</a:t>
            </a:r>
            <a:endParaRPr lang="en-US" sz="1300" dirty="0"/>
          </a:p>
        </p:txBody>
      </p:sp>
      <p:sp>
        <p:nvSpPr>
          <p:cNvPr id="6" name="Text 3"/>
          <p:cNvSpPr/>
          <p:nvPr/>
        </p:nvSpPr>
        <p:spPr>
          <a:xfrm>
            <a:off x="457200" y="4828032"/>
            <a:ext cx="8229600" cy="274320"/>
          </a:xfrm>
          <a:prstGeom prst="rect">
            <a:avLst/>
          </a:prstGeom>
          <a:noFill/>
          <a:ln/>
        </p:spPr>
        <p:txBody>
          <a:bodyPr wrap="square" lIns="0" tIns="0" rIns="0" bIns="0" rtlCol="0" anchor="ctr"/>
          <a:lstStyle/>
          <a:p>
            <a:pPr marL="0" indent="0">
              <a:buNone/>
            </a:pPr>
            <a:r>
              <a:rPr lang="en-US" sz="850" b="1" dirty="0">
                <a:solidFill>
                  <a:srgbClr val="5A6B2C"/>
                </a:solidFill>
                <a:latin typeface="Calibri" pitchFamily="34" charset="0"/>
                <a:ea typeface="Calibri" pitchFamily="34" charset="-122"/>
                <a:cs typeface="Calibri" pitchFamily="34" charset="-120"/>
              </a:rPr>
              <a:t>REFERENCE:  </a:t>
            </a:r>
            <a:r>
              <a:rPr lang="en-US" sz="850" dirty="0">
                <a:solidFill>
                  <a:srgbClr val="6E6E64"/>
                </a:solidFill>
                <a:latin typeface="Calibri" pitchFamily="34" charset="0"/>
                <a:ea typeface="Calibri" pitchFamily="34" charset="-122"/>
                <a:cs typeface="Calibri" pitchFamily="34" charset="-120"/>
              </a:rPr>
              <a:t>HUD_walls.pdf  ·  LITEFORM-ICF + HYDROPAK product folders  ·  checklists docx §4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300" dirty="0">
                <a:solidFill>
                  <a:srgbClr val="5A6B2C"/>
                </a:solidFill>
                <a:latin typeface="Calibri" pitchFamily="34" charset="0"/>
                <a:ea typeface="Calibri" pitchFamily="34" charset="-122"/>
                <a:cs typeface="Calibri" pitchFamily="34" charset="-120"/>
              </a:rPr>
              <a:t>PHASE 5 · FRAMING</a:t>
            </a:r>
            <a:endParaRPr lang="en-US" sz="12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1B1B12"/>
                </a:solidFill>
                <a:latin typeface="Cambria" pitchFamily="34" charset="0"/>
                <a:ea typeface="Cambria" pitchFamily="34" charset="-122"/>
                <a:cs typeface="Cambria" pitchFamily="34" charset="-120"/>
              </a:rPr>
              <a:t>Precision early prevents compounded error</a:t>
            </a:r>
            <a:endParaRPr lang="en-US" sz="3000" dirty="0"/>
          </a:p>
        </p:txBody>
      </p:sp>
      <p:sp>
        <p:nvSpPr>
          <p:cNvPr id="4" name="Shape 2"/>
          <p:cNvSpPr/>
          <p:nvPr/>
        </p:nvSpPr>
        <p:spPr>
          <a:xfrm>
            <a:off x="457200" y="1463040"/>
            <a:ext cx="2697480" cy="1481328"/>
          </a:xfrm>
          <a:prstGeom prst="roundRect">
            <a:avLst>
              <a:gd name="adj" fmla="val 3704"/>
            </a:avLst>
          </a:prstGeom>
          <a:solidFill>
            <a:srgbClr val="EFF1E4"/>
          </a:solidFill>
          <a:ln w="12700">
            <a:solidFill>
              <a:srgbClr val="5A6B2C"/>
            </a:solidFill>
            <a:prstDash val="solid"/>
          </a:ln>
        </p:spPr>
        <p:txBody>
          <a:bodyPr/>
          <a:lstStyle/>
          <a:p>
            <a:endParaRPr lang="en-US"/>
          </a:p>
        </p:txBody>
      </p:sp>
      <p:sp>
        <p:nvSpPr>
          <p:cNvPr id="5" name="Text 3"/>
          <p:cNvSpPr/>
          <p:nvPr/>
        </p:nvSpPr>
        <p:spPr>
          <a:xfrm>
            <a:off x="621792" y="1591056"/>
            <a:ext cx="2377440" cy="292608"/>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Sills &amp; anchors</a:t>
            </a:r>
            <a:endParaRPr lang="en-US" sz="1350" dirty="0"/>
          </a:p>
        </p:txBody>
      </p:sp>
      <p:sp>
        <p:nvSpPr>
          <p:cNvPr id="6" name="Text 4"/>
          <p:cNvSpPr/>
          <p:nvPr/>
        </p:nvSpPr>
        <p:spPr>
          <a:xfrm>
            <a:off x="621792" y="1920240"/>
            <a:ext cx="2395728" cy="914400"/>
          </a:xfrm>
          <a:prstGeom prst="rect">
            <a:avLst/>
          </a:prstGeom>
          <a:noFill/>
          <a:ln/>
        </p:spPr>
        <p:txBody>
          <a:bodyPr wrap="square" lIns="0" tIns="0" rIns="0" bIns="0" rtlCol="0" anchor="ctr"/>
          <a:lstStyle/>
          <a:p>
            <a:pPr marL="0" indent="0">
              <a:buNone/>
            </a:pPr>
            <a:r>
              <a:rPr lang="en-US" sz="1050" dirty="0">
                <a:solidFill>
                  <a:srgbClr val="1B1B12"/>
                </a:solidFill>
                <a:latin typeface="Calibri" pitchFamily="34" charset="0"/>
                <a:ea typeface="Calibri" pitchFamily="34" charset="-122"/>
                <a:cs typeface="Calibri" pitchFamily="34" charset="-120"/>
              </a:rPr>
              <a:t>Set to layout — every wall above inherits this line.</a:t>
            </a:r>
            <a:endParaRPr lang="en-US" sz="1050" dirty="0"/>
          </a:p>
        </p:txBody>
      </p:sp>
      <p:sp>
        <p:nvSpPr>
          <p:cNvPr id="7" name="Shape 5"/>
          <p:cNvSpPr/>
          <p:nvPr/>
        </p:nvSpPr>
        <p:spPr>
          <a:xfrm>
            <a:off x="3246120" y="1463040"/>
            <a:ext cx="2697480" cy="1481328"/>
          </a:xfrm>
          <a:prstGeom prst="roundRect">
            <a:avLst>
              <a:gd name="adj" fmla="val 3704"/>
            </a:avLst>
          </a:prstGeom>
          <a:solidFill>
            <a:srgbClr val="EFF1E4"/>
          </a:solidFill>
          <a:ln w="12700">
            <a:solidFill>
              <a:srgbClr val="5A6B2C"/>
            </a:solidFill>
            <a:prstDash val="solid"/>
          </a:ln>
        </p:spPr>
        <p:txBody>
          <a:bodyPr/>
          <a:lstStyle/>
          <a:p>
            <a:endParaRPr lang="en-US"/>
          </a:p>
        </p:txBody>
      </p:sp>
      <p:sp>
        <p:nvSpPr>
          <p:cNvPr id="8" name="Text 6"/>
          <p:cNvSpPr/>
          <p:nvPr/>
        </p:nvSpPr>
        <p:spPr>
          <a:xfrm>
            <a:off x="3410712" y="1591056"/>
            <a:ext cx="2377440" cy="292608"/>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Headers &amp; beams</a:t>
            </a:r>
            <a:endParaRPr lang="en-US" sz="1350" dirty="0"/>
          </a:p>
        </p:txBody>
      </p:sp>
      <p:sp>
        <p:nvSpPr>
          <p:cNvPr id="9" name="Text 7"/>
          <p:cNvSpPr/>
          <p:nvPr/>
        </p:nvSpPr>
        <p:spPr>
          <a:xfrm>
            <a:off x="3410712" y="1920240"/>
            <a:ext cx="2395728" cy="914400"/>
          </a:xfrm>
          <a:prstGeom prst="rect">
            <a:avLst/>
          </a:prstGeom>
          <a:noFill/>
          <a:ln/>
        </p:spPr>
        <p:txBody>
          <a:bodyPr wrap="square" lIns="0" tIns="0" rIns="0" bIns="0" rtlCol="0" anchor="ctr"/>
          <a:lstStyle/>
          <a:p>
            <a:pPr marL="0" indent="0">
              <a:buNone/>
            </a:pPr>
            <a:r>
              <a:rPr lang="en-US" sz="1050" dirty="0">
                <a:solidFill>
                  <a:srgbClr val="1B1B12"/>
                </a:solidFill>
                <a:latin typeface="Calibri" pitchFamily="34" charset="0"/>
                <a:ea typeface="Calibri" pitchFamily="34" charset="-122"/>
                <a:cs typeface="Calibri" pitchFamily="34" charset="-120"/>
              </a:rPr>
              <a:t>Sizes and bearing match the structural sheets, not habit.</a:t>
            </a:r>
            <a:endParaRPr lang="en-US" sz="1050" dirty="0"/>
          </a:p>
        </p:txBody>
      </p:sp>
      <p:sp>
        <p:nvSpPr>
          <p:cNvPr id="10" name="Shape 8"/>
          <p:cNvSpPr/>
          <p:nvPr/>
        </p:nvSpPr>
        <p:spPr>
          <a:xfrm>
            <a:off x="6035040" y="1463040"/>
            <a:ext cx="2697480" cy="1481328"/>
          </a:xfrm>
          <a:prstGeom prst="roundRect">
            <a:avLst>
              <a:gd name="adj" fmla="val 3704"/>
            </a:avLst>
          </a:prstGeom>
          <a:solidFill>
            <a:srgbClr val="9EAB05"/>
          </a:solidFill>
          <a:ln w="12700">
            <a:solidFill>
              <a:srgbClr val="5A6B2C"/>
            </a:solidFill>
            <a:prstDash val="solid"/>
          </a:ln>
        </p:spPr>
        <p:txBody>
          <a:bodyPr/>
          <a:lstStyle/>
          <a:p>
            <a:endParaRPr lang="en-US"/>
          </a:p>
        </p:txBody>
      </p:sp>
      <p:sp>
        <p:nvSpPr>
          <p:cNvPr id="11" name="Text 9"/>
          <p:cNvSpPr/>
          <p:nvPr/>
        </p:nvSpPr>
        <p:spPr>
          <a:xfrm>
            <a:off x="6199632" y="1591056"/>
            <a:ext cx="2377440" cy="292608"/>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Shear &amp; nailing</a:t>
            </a:r>
            <a:endParaRPr lang="en-US" sz="1350" dirty="0"/>
          </a:p>
        </p:txBody>
      </p:sp>
      <p:sp>
        <p:nvSpPr>
          <p:cNvPr id="12" name="Text 10"/>
          <p:cNvSpPr/>
          <p:nvPr/>
        </p:nvSpPr>
        <p:spPr>
          <a:xfrm>
            <a:off x="6199632" y="1920240"/>
            <a:ext cx="2395728" cy="914400"/>
          </a:xfrm>
          <a:prstGeom prst="rect">
            <a:avLst/>
          </a:prstGeom>
          <a:noFill/>
          <a:ln/>
        </p:spPr>
        <p:txBody>
          <a:bodyPr wrap="square" lIns="0" tIns="0" rIns="0" bIns="0" rtlCol="0" anchor="ctr"/>
          <a:lstStyle/>
          <a:p>
            <a:pPr marL="0" indent="0">
              <a:buNone/>
            </a:pPr>
            <a:r>
              <a:rPr lang="en-US" sz="1050" dirty="0">
                <a:solidFill>
                  <a:srgbClr val="1B1B12"/>
                </a:solidFill>
                <a:latin typeface="Calibri" pitchFamily="34" charset="0"/>
                <a:ea typeface="Calibri" pitchFamily="34" charset="-122"/>
                <a:cs typeface="Calibri" pitchFamily="34" charset="-120"/>
              </a:rPr>
              <a:t>Panel edges, patterns, and hold-downs per schedule.</a:t>
            </a:r>
            <a:endParaRPr lang="en-US" sz="1050" dirty="0"/>
          </a:p>
        </p:txBody>
      </p:sp>
      <p:sp>
        <p:nvSpPr>
          <p:cNvPr id="13" name="Shape 11"/>
          <p:cNvSpPr/>
          <p:nvPr/>
        </p:nvSpPr>
        <p:spPr>
          <a:xfrm>
            <a:off x="457200" y="3063240"/>
            <a:ext cx="2697480" cy="1481328"/>
          </a:xfrm>
          <a:prstGeom prst="roundRect">
            <a:avLst>
              <a:gd name="adj" fmla="val 3704"/>
            </a:avLst>
          </a:prstGeom>
          <a:solidFill>
            <a:srgbClr val="EFF1E4"/>
          </a:solidFill>
          <a:ln w="12700">
            <a:solidFill>
              <a:srgbClr val="5A6B2C"/>
            </a:solidFill>
            <a:prstDash val="solid"/>
          </a:ln>
        </p:spPr>
        <p:txBody>
          <a:bodyPr/>
          <a:lstStyle/>
          <a:p>
            <a:endParaRPr lang="en-US"/>
          </a:p>
        </p:txBody>
      </p:sp>
      <p:sp>
        <p:nvSpPr>
          <p:cNvPr id="14" name="Text 12"/>
          <p:cNvSpPr/>
          <p:nvPr/>
        </p:nvSpPr>
        <p:spPr>
          <a:xfrm>
            <a:off x="621792" y="3191256"/>
            <a:ext cx="2377440" cy="292608"/>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Openings</a:t>
            </a:r>
            <a:endParaRPr lang="en-US" sz="1350" dirty="0"/>
          </a:p>
        </p:txBody>
      </p:sp>
      <p:sp>
        <p:nvSpPr>
          <p:cNvPr id="15" name="Text 13"/>
          <p:cNvSpPr/>
          <p:nvPr/>
        </p:nvSpPr>
        <p:spPr>
          <a:xfrm>
            <a:off x="621792" y="3520440"/>
            <a:ext cx="2395728" cy="914400"/>
          </a:xfrm>
          <a:prstGeom prst="rect">
            <a:avLst/>
          </a:prstGeom>
          <a:noFill/>
          <a:ln/>
        </p:spPr>
        <p:txBody>
          <a:bodyPr wrap="square" lIns="0" tIns="0" rIns="0" bIns="0" rtlCol="0" anchor="ctr"/>
          <a:lstStyle/>
          <a:p>
            <a:pPr marL="0" indent="0">
              <a:buNone/>
            </a:pPr>
            <a:r>
              <a:rPr lang="en-US" sz="1050" dirty="0">
                <a:solidFill>
                  <a:srgbClr val="1B1B12"/>
                </a:solidFill>
                <a:latin typeface="Calibri" pitchFamily="34" charset="0"/>
                <a:ea typeface="Calibri" pitchFamily="34" charset="-122"/>
                <a:cs typeface="Calibri" pitchFamily="34" charset="-120"/>
              </a:rPr>
              <a:t>Rough openings framed to the window/door schedule.</a:t>
            </a:r>
            <a:endParaRPr lang="en-US" sz="1050" dirty="0"/>
          </a:p>
        </p:txBody>
      </p:sp>
      <p:sp>
        <p:nvSpPr>
          <p:cNvPr id="16" name="Shape 14"/>
          <p:cNvSpPr/>
          <p:nvPr/>
        </p:nvSpPr>
        <p:spPr>
          <a:xfrm>
            <a:off x="3246120" y="3063240"/>
            <a:ext cx="2697480" cy="1481328"/>
          </a:xfrm>
          <a:prstGeom prst="roundRect">
            <a:avLst>
              <a:gd name="adj" fmla="val 3704"/>
            </a:avLst>
          </a:prstGeom>
          <a:solidFill>
            <a:srgbClr val="EFF1E4"/>
          </a:solidFill>
          <a:ln w="12700">
            <a:solidFill>
              <a:srgbClr val="5A6B2C"/>
            </a:solidFill>
            <a:prstDash val="solid"/>
          </a:ln>
        </p:spPr>
        <p:txBody>
          <a:bodyPr/>
          <a:lstStyle/>
          <a:p>
            <a:endParaRPr lang="en-US"/>
          </a:p>
        </p:txBody>
      </p:sp>
      <p:sp>
        <p:nvSpPr>
          <p:cNvPr id="17" name="Text 15"/>
          <p:cNvSpPr/>
          <p:nvPr/>
        </p:nvSpPr>
        <p:spPr>
          <a:xfrm>
            <a:off x="3410712" y="3191256"/>
            <a:ext cx="2377440" cy="292608"/>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Protection plates</a:t>
            </a:r>
            <a:endParaRPr lang="en-US" sz="1350" dirty="0"/>
          </a:p>
        </p:txBody>
      </p:sp>
      <p:sp>
        <p:nvSpPr>
          <p:cNvPr id="18" name="Text 16"/>
          <p:cNvSpPr/>
          <p:nvPr/>
        </p:nvSpPr>
        <p:spPr>
          <a:xfrm>
            <a:off x="3410712" y="3520440"/>
            <a:ext cx="2395728" cy="914400"/>
          </a:xfrm>
          <a:prstGeom prst="rect">
            <a:avLst/>
          </a:prstGeom>
          <a:noFill/>
          <a:ln/>
        </p:spPr>
        <p:txBody>
          <a:bodyPr wrap="square" lIns="0" tIns="0" rIns="0" bIns="0" rtlCol="0" anchor="ctr"/>
          <a:lstStyle/>
          <a:p>
            <a:pPr marL="0" indent="0">
              <a:buNone/>
            </a:pPr>
            <a:r>
              <a:rPr lang="en-US" sz="1050" dirty="0">
                <a:solidFill>
                  <a:srgbClr val="1B1B12"/>
                </a:solidFill>
                <a:latin typeface="Calibri" pitchFamily="34" charset="0"/>
                <a:ea typeface="Calibri" pitchFamily="34" charset="-122"/>
                <a:cs typeface="Calibri" pitchFamily="34" charset="-120"/>
              </a:rPr>
              <a:t>Where pipe or wire runs close to the face of framing.</a:t>
            </a:r>
            <a:endParaRPr lang="en-US" sz="1050" dirty="0"/>
          </a:p>
        </p:txBody>
      </p:sp>
      <p:sp>
        <p:nvSpPr>
          <p:cNvPr id="19" name="Shape 17"/>
          <p:cNvSpPr/>
          <p:nvPr/>
        </p:nvSpPr>
        <p:spPr>
          <a:xfrm>
            <a:off x="6035040" y="3063240"/>
            <a:ext cx="2697480" cy="1481328"/>
          </a:xfrm>
          <a:prstGeom prst="roundRect">
            <a:avLst>
              <a:gd name="adj" fmla="val 3704"/>
            </a:avLst>
          </a:prstGeom>
          <a:solidFill>
            <a:srgbClr val="EFF1E4"/>
          </a:solidFill>
          <a:ln w="12700">
            <a:solidFill>
              <a:srgbClr val="5A6B2C"/>
            </a:solidFill>
            <a:prstDash val="solid"/>
          </a:ln>
        </p:spPr>
        <p:txBody>
          <a:bodyPr/>
          <a:lstStyle/>
          <a:p>
            <a:endParaRPr lang="en-US"/>
          </a:p>
        </p:txBody>
      </p:sp>
      <p:sp>
        <p:nvSpPr>
          <p:cNvPr id="20" name="Text 18"/>
          <p:cNvSpPr/>
          <p:nvPr/>
        </p:nvSpPr>
        <p:spPr>
          <a:xfrm>
            <a:off x="6199632" y="3191256"/>
            <a:ext cx="2377440" cy="292608"/>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Stairs &amp; transitions</a:t>
            </a:r>
            <a:endParaRPr lang="en-US" sz="1350" dirty="0"/>
          </a:p>
        </p:txBody>
      </p:sp>
      <p:sp>
        <p:nvSpPr>
          <p:cNvPr id="21" name="Text 19"/>
          <p:cNvSpPr/>
          <p:nvPr/>
        </p:nvSpPr>
        <p:spPr>
          <a:xfrm>
            <a:off x="6199632" y="3520440"/>
            <a:ext cx="2395728" cy="914400"/>
          </a:xfrm>
          <a:prstGeom prst="rect">
            <a:avLst/>
          </a:prstGeom>
          <a:noFill/>
          <a:ln/>
        </p:spPr>
        <p:txBody>
          <a:bodyPr wrap="square" lIns="0" tIns="0" rIns="0" bIns="0" rtlCol="0" anchor="ctr"/>
          <a:lstStyle/>
          <a:p>
            <a:pPr marL="0" indent="0">
              <a:buNone/>
            </a:pPr>
            <a:r>
              <a:rPr lang="en-US" sz="1050" dirty="0">
                <a:solidFill>
                  <a:srgbClr val="1B1B12"/>
                </a:solidFill>
                <a:latin typeface="Calibri" pitchFamily="34" charset="0"/>
                <a:ea typeface="Calibri" pitchFamily="34" charset="-122"/>
                <a:cs typeface="Calibri" pitchFamily="34" charset="-120"/>
              </a:rPr>
              <a:t>Openings guarded; rises and runs consistent.</a:t>
            </a:r>
            <a:endParaRPr lang="en-US" sz="1050" dirty="0"/>
          </a:p>
        </p:txBody>
      </p:sp>
      <p:sp>
        <p:nvSpPr>
          <p:cNvPr id="22" name="Text 20"/>
          <p:cNvSpPr/>
          <p:nvPr/>
        </p:nvSpPr>
        <p:spPr>
          <a:xfrm>
            <a:off x="457200" y="4828032"/>
            <a:ext cx="8229600" cy="274320"/>
          </a:xfrm>
          <a:prstGeom prst="rect">
            <a:avLst/>
          </a:prstGeom>
          <a:noFill/>
          <a:ln/>
        </p:spPr>
        <p:txBody>
          <a:bodyPr wrap="square" lIns="0" tIns="0" rIns="0" bIns="0" rtlCol="0" anchor="ctr"/>
          <a:lstStyle/>
          <a:p>
            <a:pPr marL="0" indent="0">
              <a:buNone/>
            </a:pPr>
            <a:r>
              <a:rPr lang="en-US" sz="850" b="1" dirty="0">
                <a:solidFill>
                  <a:srgbClr val="5A6B2C"/>
                </a:solidFill>
                <a:latin typeface="Calibri" pitchFamily="34" charset="0"/>
                <a:ea typeface="Calibri" pitchFamily="34" charset="-122"/>
                <a:cs typeface="Calibri" pitchFamily="34" charset="-120"/>
              </a:rPr>
              <a:t>REFERENCE:  </a:t>
            </a:r>
            <a:r>
              <a:rPr lang="en-US" sz="850" dirty="0">
                <a:solidFill>
                  <a:srgbClr val="6E6E64"/>
                </a:solidFill>
                <a:latin typeface="Calibri" pitchFamily="34" charset="0"/>
                <a:ea typeface="Calibri" pitchFamily="34" charset="-122"/>
                <a:cs typeface="Calibri" pitchFamily="34" charset="-120"/>
              </a:rPr>
              <a:t>APA_A535.pdf · APA-Roofs.pdf · WEYERHAEUSER + BOISE-CASCADE + SIMPSON product folders · checklists §5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300" dirty="0">
                <a:solidFill>
                  <a:srgbClr val="5A6B2C"/>
                </a:solidFill>
                <a:latin typeface="Calibri" pitchFamily="34" charset="0"/>
                <a:ea typeface="Calibri" pitchFamily="34" charset="-122"/>
                <a:cs typeface="Calibri" pitchFamily="34" charset="-120"/>
              </a:rPr>
              <a:t>PHASE 6 · TRADE ROUGH-INS</a:t>
            </a:r>
            <a:endParaRPr lang="en-US" sz="12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1B1B12"/>
                </a:solidFill>
                <a:latin typeface="Cambria" pitchFamily="34" charset="0"/>
                <a:ea typeface="Cambria" pitchFamily="34" charset="-122"/>
                <a:cs typeface="Cambria" pitchFamily="34" charset="-120"/>
              </a:rPr>
              <a:t>Trades fit the structure without wounding it</a:t>
            </a:r>
            <a:endParaRPr lang="en-US" sz="3000" dirty="0"/>
          </a:p>
        </p:txBody>
      </p:sp>
      <p:sp>
        <p:nvSpPr>
          <p:cNvPr id="4" name="Shape 2"/>
          <p:cNvSpPr/>
          <p:nvPr/>
        </p:nvSpPr>
        <p:spPr>
          <a:xfrm>
            <a:off x="457200" y="1508760"/>
            <a:ext cx="2697480" cy="2240280"/>
          </a:xfrm>
          <a:prstGeom prst="roundRect">
            <a:avLst>
              <a:gd name="adj" fmla="val 3265"/>
            </a:avLst>
          </a:prstGeom>
          <a:solidFill>
            <a:srgbClr val="1B1B12"/>
          </a:solidFill>
          <a:ln w="12700">
            <a:solidFill>
              <a:srgbClr val="1B1B12"/>
            </a:solidFill>
            <a:prstDash val="solid"/>
          </a:ln>
        </p:spPr>
        <p:txBody>
          <a:bodyPr/>
          <a:lstStyle/>
          <a:p>
            <a:endParaRPr lang="en-US"/>
          </a:p>
        </p:txBody>
      </p:sp>
      <p:sp>
        <p:nvSpPr>
          <p:cNvPr id="5" name="Text 3"/>
          <p:cNvSpPr/>
          <p:nvPr/>
        </p:nvSpPr>
        <p:spPr>
          <a:xfrm>
            <a:off x="640080" y="1691640"/>
            <a:ext cx="2331720" cy="292608"/>
          </a:xfrm>
          <a:prstGeom prst="rect">
            <a:avLst/>
          </a:prstGeom>
          <a:noFill/>
          <a:ln/>
        </p:spPr>
        <p:txBody>
          <a:bodyPr wrap="square" lIns="0" tIns="0" rIns="0" bIns="0" rtlCol="0" anchor="ctr"/>
          <a:lstStyle/>
          <a:p>
            <a:pPr marL="0" indent="0">
              <a:buNone/>
            </a:pPr>
            <a:r>
              <a:rPr lang="en-US" sz="1400" b="1" kern="0" spc="200" dirty="0">
                <a:solidFill>
                  <a:srgbClr val="9EAB05"/>
                </a:solidFill>
                <a:latin typeface="Calibri" pitchFamily="34" charset="0"/>
                <a:ea typeface="Calibri" pitchFamily="34" charset="-122"/>
                <a:cs typeface="Calibri" pitchFamily="34" charset="-120"/>
              </a:rPr>
              <a:t>PLUMBING</a:t>
            </a:r>
            <a:endParaRPr lang="en-US" sz="1400" dirty="0"/>
          </a:p>
        </p:txBody>
      </p:sp>
      <p:sp>
        <p:nvSpPr>
          <p:cNvPr id="6" name="Text 4"/>
          <p:cNvSpPr/>
          <p:nvPr/>
        </p:nvSpPr>
        <p:spPr>
          <a:xfrm>
            <a:off x="640080" y="2057400"/>
            <a:ext cx="2359152" cy="1554480"/>
          </a:xfrm>
          <a:prstGeom prst="rect">
            <a:avLst/>
          </a:prstGeom>
          <a:noFill/>
          <a:ln/>
        </p:spPr>
        <p:txBody>
          <a:bodyPr wrap="square" lIns="0" tIns="0" rIns="0" bIns="0" rtlCol="0" anchor="ctr"/>
          <a:lstStyle/>
          <a:p>
            <a:pPr marL="0" indent="0">
              <a:buNone/>
            </a:pPr>
            <a:r>
              <a:rPr lang="en-US" sz="1150" dirty="0">
                <a:solidFill>
                  <a:srgbClr val="E8EBDA"/>
                </a:solidFill>
                <a:latin typeface="Calibri" pitchFamily="34" charset="0"/>
                <a:ea typeface="Calibri" pitchFamily="34" charset="-122"/>
                <a:cs typeface="Calibri" pitchFamily="34" charset="-120"/>
              </a:rPr>
              <a:t>DWV routed &amp; supported · top-out complete · water test holding · penetrations protected</a:t>
            </a:r>
            <a:endParaRPr lang="en-US" sz="1150" dirty="0"/>
          </a:p>
        </p:txBody>
      </p:sp>
      <p:sp>
        <p:nvSpPr>
          <p:cNvPr id="7" name="Shape 5"/>
          <p:cNvSpPr/>
          <p:nvPr/>
        </p:nvSpPr>
        <p:spPr>
          <a:xfrm>
            <a:off x="3246120" y="1508760"/>
            <a:ext cx="2697480" cy="2240280"/>
          </a:xfrm>
          <a:prstGeom prst="roundRect">
            <a:avLst>
              <a:gd name="adj" fmla="val 3265"/>
            </a:avLst>
          </a:prstGeom>
          <a:solidFill>
            <a:srgbClr val="1B1B12"/>
          </a:solidFill>
          <a:ln w="12700">
            <a:solidFill>
              <a:srgbClr val="1B1B12"/>
            </a:solidFill>
            <a:prstDash val="solid"/>
          </a:ln>
        </p:spPr>
        <p:txBody>
          <a:bodyPr/>
          <a:lstStyle/>
          <a:p>
            <a:endParaRPr lang="en-US"/>
          </a:p>
        </p:txBody>
      </p:sp>
      <p:sp>
        <p:nvSpPr>
          <p:cNvPr id="8" name="Text 6"/>
          <p:cNvSpPr/>
          <p:nvPr/>
        </p:nvSpPr>
        <p:spPr>
          <a:xfrm>
            <a:off x="3429000" y="1691640"/>
            <a:ext cx="2331720" cy="292608"/>
          </a:xfrm>
          <a:prstGeom prst="rect">
            <a:avLst/>
          </a:prstGeom>
          <a:noFill/>
          <a:ln/>
        </p:spPr>
        <p:txBody>
          <a:bodyPr wrap="square" lIns="0" tIns="0" rIns="0" bIns="0" rtlCol="0" anchor="ctr"/>
          <a:lstStyle/>
          <a:p>
            <a:pPr marL="0" indent="0">
              <a:buNone/>
            </a:pPr>
            <a:r>
              <a:rPr lang="en-US" sz="1400" b="1" kern="0" spc="200" dirty="0">
                <a:solidFill>
                  <a:srgbClr val="9EAB05"/>
                </a:solidFill>
                <a:latin typeface="Calibri" pitchFamily="34" charset="0"/>
                <a:ea typeface="Calibri" pitchFamily="34" charset="-122"/>
                <a:cs typeface="Calibri" pitchFamily="34" charset="-120"/>
              </a:rPr>
              <a:t>ELECTRICAL</a:t>
            </a:r>
            <a:endParaRPr lang="en-US" sz="1400" dirty="0"/>
          </a:p>
        </p:txBody>
      </p:sp>
      <p:sp>
        <p:nvSpPr>
          <p:cNvPr id="9" name="Text 7"/>
          <p:cNvSpPr/>
          <p:nvPr/>
        </p:nvSpPr>
        <p:spPr>
          <a:xfrm>
            <a:off x="3429000" y="2057400"/>
            <a:ext cx="2359152" cy="1554480"/>
          </a:xfrm>
          <a:prstGeom prst="rect">
            <a:avLst/>
          </a:prstGeom>
          <a:noFill/>
          <a:ln/>
        </p:spPr>
        <p:txBody>
          <a:bodyPr wrap="square" lIns="0" tIns="0" rIns="0" bIns="0" rtlCol="0" anchor="ctr"/>
          <a:lstStyle/>
          <a:p>
            <a:pPr marL="0" indent="0">
              <a:buNone/>
            </a:pPr>
            <a:r>
              <a:rPr lang="en-US" sz="1150" dirty="0">
                <a:solidFill>
                  <a:srgbClr val="E8EBDA"/>
                </a:solidFill>
                <a:latin typeface="Calibri" pitchFamily="34" charset="0"/>
                <a:ea typeface="Calibri" pitchFamily="34" charset="-122"/>
                <a:cs typeface="Calibri" pitchFamily="34" charset="-120"/>
              </a:rPr>
              <a:t>Boxes &amp; conductors set · grounding installed · service path ready · nail plates on</a:t>
            </a:r>
            <a:endParaRPr lang="en-US" sz="1150" dirty="0"/>
          </a:p>
        </p:txBody>
      </p:sp>
      <p:sp>
        <p:nvSpPr>
          <p:cNvPr id="10" name="Shape 8"/>
          <p:cNvSpPr/>
          <p:nvPr/>
        </p:nvSpPr>
        <p:spPr>
          <a:xfrm>
            <a:off x="6035040" y="1508760"/>
            <a:ext cx="2697480" cy="2240280"/>
          </a:xfrm>
          <a:prstGeom prst="roundRect">
            <a:avLst>
              <a:gd name="adj" fmla="val 3265"/>
            </a:avLst>
          </a:prstGeom>
          <a:solidFill>
            <a:srgbClr val="1B1B12"/>
          </a:solidFill>
          <a:ln w="12700">
            <a:solidFill>
              <a:srgbClr val="1B1B12"/>
            </a:solidFill>
            <a:prstDash val="solid"/>
          </a:ln>
        </p:spPr>
        <p:txBody>
          <a:bodyPr/>
          <a:lstStyle/>
          <a:p>
            <a:endParaRPr lang="en-US"/>
          </a:p>
        </p:txBody>
      </p:sp>
      <p:sp>
        <p:nvSpPr>
          <p:cNvPr id="11" name="Text 9"/>
          <p:cNvSpPr/>
          <p:nvPr/>
        </p:nvSpPr>
        <p:spPr>
          <a:xfrm>
            <a:off x="6217920" y="1691640"/>
            <a:ext cx="2331720" cy="292608"/>
          </a:xfrm>
          <a:prstGeom prst="rect">
            <a:avLst/>
          </a:prstGeom>
          <a:noFill/>
          <a:ln/>
        </p:spPr>
        <p:txBody>
          <a:bodyPr wrap="square" lIns="0" tIns="0" rIns="0" bIns="0" rtlCol="0" anchor="ctr"/>
          <a:lstStyle/>
          <a:p>
            <a:pPr marL="0" indent="0">
              <a:buNone/>
            </a:pPr>
            <a:r>
              <a:rPr lang="en-US" sz="1400" b="1" kern="0" spc="200" dirty="0">
                <a:solidFill>
                  <a:srgbClr val="9EAB05"/>
                </a:solidFill>
                <a:latin typeface="Calibri" pitchFamily="34" charset="0"/>
                <a:ea typeface="Calibri" pitchFamily="34" charset="-122"/>
                <a:cs typeface="Calibri" pitchFamily="34" charset="-120"/>
              </a:rPr>
              <a:t>MECH / GAS</a:t>
            </a:r>
            <a:endParaRPr lang="en-US" sz="1400" dirty="0"/>
          </a:p>
        </p:txBody>
      </p:sp>
      <p:sp>
        <p:nvSpPr>
          <p:cNvPr id="12" name="Text 10"/>
          <p:cNvSpPr/>
          <p:nvPr/>
        </p:nvSpPr>
        <p:spPr>
          <a:xfrm>
            <a:off x="6217920" y="2057400"/>
            <a:ext cx="2359152" cy="1554480"/>
          </a:xfrm>
          <a:prstGeom prst="rect">
            <a:avLst/>
          </a:prstGeom>
          <a:noFill/>
          <a:ln/>
        </p:spPr>
        <p:txBody>
          <a:bodyPr wrap="square" lIns="0" tIns="0" rIns="0" bIns="0" rtlCol="0" anchor="ctr"/>
          <a:lstStyle/>
          <a:p>
            <a:pPr marL="0" indent="0">
              <a:buNone/>
            </a:pPr>
            <a:r>
              <a:rPr lang="en-US" sz="1150" dirty="0">
                <a:solidFill>
                  <a:srgbClr val="E8EBDA"/>
                </a:solidFill>
                <a:latin typeface="Calibri" pitchFamily="34" charset="0"/>
                <a:ea typeface="Calibri" pitchFamily="34" charset="-122"/>
                <a:cs typeface="Calibri" pitchFamily="34" charset="-120"/>
              </a:rPr>
              <a:t>Ducts routed · vents in · condensate drains run · gas test complete</a:t>
            </a:r>
            <a:endParaRPr lang="en-US" sz="1150" dirty="0"/>
          </a:p>
        </p:txBody>
      </p:sp>
      <p:sp>
        <p:nvSpPr>
          <p:cNvPr id="13" name="Text 11"/>
          <p:cNvSpPr/>
          <p:nvPr/>
        </p:nvSpPr>
        <p:spPr>
          <a:xfrm>
            <a:off x="457200" y="3977640"/>
            <a:ext cx="8229600" cy="640080"/>
          </a:xfrm>
          <a:prstGeom prst="rect">
            <a:avLst/>
          </a:prstGeom>
          <a:noFill/>
          <a:ln/>
        </p:spPr>
        <p:txBody>
          <a:bodyPr wrap="square" lIns="0" tIns="0" rIns="0" bIns="0" rtlCol="0" anchor="ctr"/>
          <a:lstStyle/>
          <a:p>
            <a:pPr marL="0" indent="0">
              <a:buNone/>
            </a:pPr>
            <a:r>
              <a:rPr lang="en-US" sz="1250" i="1" dirty="0">
                <a:solidFill>
                  <a:srgbClr val="5A6B2C"/>
                </a:solidFill>
                <a:latin typeface="Calibri" pitchFamily="34" charset="0"/>
                <a:ea typeface="Calibri" pitchFamily="34" charset="-122"/>
                <a:cs typeface="Calibri" pitchFamily="34" charset="-120"/>
              </a:rPr>
              <a:t>Sequence rule: every rough trade passes its inspection BEFORE the framing inspection is called. Drilling and notching limits protect the structure the trades pass through.</a:t>
            </a:r>
            <a:endParaRPr lang="en-US" sz="1250" dirty="0"/>
          </a:p>
        </p:txBody>
      </p:sp>
      <p:sp>
        <p:nvSpPr>
          <p:cNvPr id="14" name="Text 12"/>
          <p:cNvSpPr/>
          <p:nvPr/>
        </p:nvSpPr>
        <p:spPr>
          <a:xfrm>
            <a:off x="457200" y="4828032"/>
            <a:ext cx="8229600" cy="274320"/>
          </a:xfrm>
          <a:prstGeom prst="rect">
            <a:avLst/>
          </a:prstGeom>
          <a:noFill/>
          <a:ln/>
        </p:spPr>
        <p:txBody>
          <a:bodyPr wrap="square" lIns="0" tIns="0" rIns="0" bIns="0" rtlCol="0" anchor="ctr"/>
          <a:lstStyle/>
          <a:p>
            <a:pPr marL="0" indent="0">
              <a:buNone/>
            </a:pPr>
            <a:r>
              <a:rPr lang="en-US" sz="850" b="1" dirty="0">
                <a:solidFill>
                  <a:srgbClr val="5A6B2C"/>
                </a:solidFill>
                <a:latin typeface="Calibri" pitchFamily="34" charset="0"/>
                <a:ea typeface="Calibri" pitchFamily="34" charset="-122"/>
                <a:cs typeface="Calibri" pitchFamily="34" charset="-120"/>
              </a:rPr>
              <a:t>REFERENCE:  </a:t>
            </a:r>
            <a:r>
              <a:rPr lang="en-US" sz="850" dirty="0">
                <a:solidFill>
                  <a:srgbClr val="6E6E64"/>
                </a:solidFill>
                <a:latin typeface="Calibri" pitchFamily="34" charset="0"/>
                <a:ea typeface="Calibri" pitchFamily="34" charset="-122"/>
                <a:cs typeface="Calibri" pitchFamily="34" charset="-120"/>
              </a:rPr>
              <a:t>checklists docx §6–§9  ·  Building Dept inspections PDF (rough trade prerequisites)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300" dirty="0">
                <a:solidFill>
                  <a:srgbClr val="5A6B2C"/>
                </a:solidFill>
                <a:latin typeface="Calibri" pitchFamily="34" charset="0"/>
                <a:ea typeface="Calibri" pitchFamily="34" charset="-122"/>
                <a:cs typeface="Calibri" pitchFamily="34" charset="-120"/>
              </a:rPr>
              <a:t>PHASE 7 · DRY-IN</a:t>
            </a:r>
            <a:endParaRPr lang="en-US" sz="12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1B1B12"/>
                </a:solidFill>
                <a:latin typeface="Cambria" pitchFamily="34" charset="0"/>
                <a:ea typeface="Cambria" pitchFamily="34" charset="-122"/>
                <a:cs typeface="Cambria" pitchFamily="34" charset="-120"/>
              </a:rPr>
              <a:t>Layered water-shedding, not a single barrier</a:t>
            </a:r>
            <a:endParaRPr lang="en-US" sz="3000" dirty="0"/>
          </a:p>
        </p:txBody>
      </p:sp>
      <p:pic>
        <p:nvPicPr>
          <p:cNvPr id="4" name="Image 0" descr="assets/d2_flashing.png"/>
          <p:cNvPicPr>
            <a:picLocks noChangeAspect="1"/>
          </p:cNvPicPr>
          <p:nvPr/>
        </p:nvPicPr>
        <p:blipFill>
          <a:blip r:embed="rId3"/>
          <a:stretch>
            <a:fillRect/>
          </a:stretch>
        </p:blipFill>
        <p:spPr>
          <a:xfrm>
            <a:off x="640080" y="1371600"/>
            <a:ext cx="5943600" cy="3291840"/>
          </a:xfrm>
          <a:prstGeom prst="rect">
            <a:avLst/>
          </a:prstGeom>
        </p:spPr>
      </p:pic>
      <p:sp>
        <p:nvSpPr>
          <p:cNvPr id="5" name="Text 2"/>
          <p:cNvSpPr/>
          <p:nvPr/>
        </p:nvSpPr>
        <p:spPr>
          <a:xfrm>
            <a:off x="6675120" y="1645920"/>
            <a:ext cx="2103120" cy="2651760"/>
          </a:xfrm>
          <a:prstGeom prst="rect">
            <a:avLst/>
          </a:prstGeom>
          <a:noFill/>
          <a:ln/>
        </p:spPr>
        <p:txBody>
          <a:bodyPr wrap="square" lIns="0" tIns="0" rIns="0" bIns="0" rtlCol="0" anchor="ctr"/>
          <a:lstStyle/>
          <a:p>
            <a:pPr marL="0" indent="0">
              <a:buNone/>
            </a:pPr>
            <a:r>
              <a:rPr lang="en-US" sz="1300" b="1" dirty="0">
                <a:solidFill>
                  <a:srgbClr val="5A6B2C"/>
                </a:solidFill>
                <a:latin typeface="Calibri" pitchFamily="34" charset="0"/>
                <a:ea typeface="Calibri" pitchFamily="34" charset="-122"/>
                <a:cs typeface="Calibri" pitchFamily="34" charset="-120"/>
              </a:rPr>
              <a:t>Shingle logic
</a:t>
            </a:r>
            <a:r>
              <a:rPr lang="en-US" sz="1150" dirty="0">
                <a:solidFill>
                  <a:srgbClr val="1B1B12"/>
                </a:solidFill>
                <a:latin typeface="Calibri" pitchFamily="34" charset="0"/>
                <a:ea typeface="Calibri" pitchFamily="34" charset="-122"/>
                <a:cs typeface="Calibri" pitchFamily="34" charset="-120"/>
              </a:rPr>
              <a:t>Upper laps over lower — everywhere, always. At roof-to-wall intersections, overlap is the rule.</a:t>
            </a:r>
            <a:endParaRPr lang="en-US" sz="1300" dirty="0"/>
          </a:p>
          <a:p>
            <a:pPr marL="0" indent="0">
              <a:buNone/>
            </a:pPr>
            <a:endParaRPr lang="en-US" sz="1300" dirty="0"/>
          </a:p>
          <a:p>
            <a:pPr marL="0" indent="0">
              <a:buNone/>
            </a:pPr>
            <a:r>
              <a:rPr lang="en-US" sz="1150" dirty="0">
                <a:solidFill>
                  <a:srgbClr val="1B1B12"/>
                </a:solidFill>
                <a:latin typeface="Calibri" pitchFamily="34" charset="0"/>
                <a:ea typeface="Calibri" pitchFamily="34" charset="-122"/>
                <a:cs typeface="Calibri" pitchFamily="34" charset="-120"/>
              </a:rPr>
              <a:t>Sealant is a helper, never the strategy.</a:t>
            </a:r>
            <a:endParaRPr lang="en-US" sz="1300" dirty="0"/>
          </a:p>
        </p:txBody>
      </p:sp>
      <p:sp>
        <p:nvSpPr>
          <p:cNvPr id="6" name="Text 3"/>
          <p:cNvSpPr/>
          <p:nvPr/>
        </p:nvSpPr>
        <p:spPr>
          <a:xfrm>
            <a:off x="457200" y="4828032"/>
            <a:ext cx="8229600" cy="274320"/>
          </a:xfrm>
          <a:prstGeom prst="rect">
            <a:avLst/>
          </a:prstGeom>
          <a:noFill/>
          <a:ln/>
        </p:spPr>
        <p:txBody>
          <a:bodyPr wrap="square" lIns="0" tIns="0" rIns="0" bIns="0" rtlCol="0" anchor="ctr"/>
          <a:lstStyle/>
          <a:p>
            <a:pPr marL="0" indent="0">
              <a:buNone/>
            </a:pPr>
            <a:r>
              <a:rPr lang="en-US" sz="850" b="1" dirty="0">
                <a:solidFill>
                  <a:srgbClr val="5A6B2C"/>
                </a:solidFill>
                <a:latin typeface="Calibri" pitchFamily="34" charset="0"/>
                <a:ea typeface="Calibri" pitchFamily="34" charset="-122"/>
                <a:cs typeface="Calibri" pitchFamily="34" charset="-120"/>
              </a:rPr>
              <a:t>REFERENCE:  </a:t>
            </a:r>
            <a:r>
              <a:rPr lang="en-US" sz="850" dirty="0">
                <a:solidFill>
                  <a:srgbClr val="6E6E64"/>
                </a:solidFill>
                <a:latin typeface="Calibri" pitchFamily="34" charset="0"/>
                <a:ea typeface="Calibri" pitchFamily="34" charset="-122"/>
                <a:cs typeface="Calibri" pitchFamily="34" charset="-120"/>
              </a:rPr>
              <a:t>BARRICADE + HUBER (WRB) · APA-Roofs.pdf · GS-Thin-Brick guide (cladding) · checklists §10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300" dirty="0">
                <a:solidFill>
                  <a:srgbClr val="5A6B2C"/>
                </a:solidFill>
                <a:latin typeface="Calibri" pitchFamily="34" charset="0"/>
                <a:ea typeface="Calibri" pitchFamily="34" charset="-122"/>
                <a:cs typeface="Calibri" pitchFamily="34" charset="-120"/>
              </a:rPr>
              <a:t>PHASE 7 · QUALITY LENS</a:t>
            </a:r>
            <a:endParaRPr lang="en-US" sz="12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1B1B12"/>
                </a:solidFill>
                <a:latin typeface="Cambria" pitchFamily="34" charset="0"/>
                <a:ea typeface="Cambria" pitchFamily="34" charset="-122"/>
                <a:cs typeface="Cambria" pitchFamily="34" charset="-120"/>
              </a:rPr>
              <a:t>Judge any assembly with the 5 Ds</a:t>
            </a:r>
            <a:endParaRPr lang="en-US" sz="3000" dirty="0"/>
          </a:p>
        </p:txBody>
      </p:sp>
      <p:pic>
        <p:nvPicPr>
          <p:cNvPr id="4" name="Image 0" descr="assets/d2_5ds.png"/>
          <p:cNvPicPr>
            <a:picLocks noChangeAspect="1"/>
          </p:cNvPicPr>
          <p:nvPr/>
        </p:nvPicPr>
        <p:blipFill>
          <a:blip r:embed="rId3"/>
          <a:stretch>
            <a:fillRect/>
          </a:stretch>
        </p:blipFill>
        <p:spPr>
          <a:xfrm>
            <a:off x="594360" y="1417320"/>
            <a:ext cx="7955280" cy="3154680"/>
          </a:xfrm>
          <a:prstGeom prst="rect">
            <a:avLst/>
          </a:prstGeom>
        </p:spPr>
      </p:pic>
      <p:sp>
        <p:nvSpPr>
          <p:cNvPr id="5" name="Text 2"/>
          <p:cNvSpPr/>
          <p:nvPr/>
        </p:nvSpPr>
        <p:spPr>
          <a:xfrm>
            <a:off x="457200" y="4828032"/>
            <a:ext cx="8229600" cy="274320"/>
          </a:xfrm>
          <a:prstGeom prst="rect">
            <a:avLst/>
          </a:prstGeom>
          <a:noFill/>
          <a:ln/>
        </p:spPr>
        <p:txBody>
          <a:bodyPr wrap="square" lIns="0" tIns="0" rIns="0" bIns="0" rtlCol="0" anchor="ctr"/>
          <a:lstStyle/>
          <a:p>
            <a:pPr marL="0" indent="0">
              <a:buNone/>
            </a:pPr>
            <a:r>
              <a:rPr lang="en-US" sz="850" b="1" dirty="0">
                <a:solidFill>
                  <a:srgbClr val="5A6B2C"/>
                </a:solidFill>
                <a:latin typeface="Calibri" pitchFamily="34" charset="0"/>
                <a:ea typeface="Calibri" pitchFamily="34" charset="-122"/>
                <a:cs typeface="Calibri" pitchFamily="34" charset="-120"/>
              </a:rPr>
              <a:t>REFERENCE:  </a:t>
            </a:r>
            <a:r>
              <a:rPr lang="en-US" sz="850" dirty="0">
                <a:solidFill>
                  <a:srgbClr val="6E6E64"/>
                </a:solidFill>
                <a:latin typeface="Calibri" pitchFamily="34" charset="0"/>
                <a:ea typeface="Calibri" pitchFamily="34" charset="-122"/>
                <a:cs typeface="Calibri" pitchFamily="34" charset="-120"/>
              </a:rPr>
              <a:t>checklists docx §10 (enclosure field review)  ·  ROCKWOOL + KEENE product folders (drainage/drying)</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300" dirty="0">
                <a:solidFill>
                  <a:srgbClr val="5A6B2C"/>
                </a:solidFill>
                <a:latin typeface="Calibri" pitchFamily="34" charset="0"/>
                <a:ea typeface="Calibri" pitchFamily="34" charset="-122"/>
                <a:cs typeface="Calibri" pitchFamily="34" charset="-120"/>
              </a:rPr>
              <a:t>PHASE 8 · INSULATION</a:t>
            </a:r>
            <a:endParaRPr lang="en-US" sz="12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1B1B12"/>
                </a:solidFill>
                <a:latin typeface="Cambria" pitchFamily="34" charset="0"/>
                <a:ea typeface="Cambria" pitchFamily="34" charset="-122"/>
                <a:cs typeface="Cambria" pitchFamily="34" charset="-120"/>
              </a:rPr>
              <a:t>The last look before concealment</a:t>
            </a:r>
            <a:endParaRPr lang="en-US" sz="3000" dirty="0"/>
          </a:p>
        </p:txBody>
      </p:sp>
      <p:sp>
        <p:nvSpPr>
          <p:cNvPr id="4" name="Shape 2"/>
          <p:cNvSpPr/>
          <p:nvPr/>
        </p:nvSpPr>
        <p:spPr>
          <a:xfrm>
            <a:off x="457200" y="1444752"/>
            <a:ext cx="475488" cy="475488"/>
          </a:xfrm>
          <a:prstGeom prst="ellipse">
            <a:avLst/>
          </a:prstGeom>
          <a:solidFill>
            <a:srgbClr val="5A6B2C"/>
          </a:solidFill>
          <a:ln/>
        </p:spPr>
        <p:txBody>
          <a:bodyPr/>
          <a:lstStyle/>
          <a:p>
            <a:endParaRPr lang="en-US"/>
          </a:p>
        </p:txBody>
      </p:sp>
      <p:sp>
        <p:nvSpPr>
          <p:cNvPr id="5" name="Text 3"/>
          <p:cNvSpPr/>
          <p:nvPr/>
        </p:nvSpPr>
        <p:spPr>
          <a:xfrm>
            <a:off x="457200" y="1444752"/>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097280" y="1417320"/>
            <a:ext cx="7498080" cy="274320"/>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All prior roughs approved</a:t>
            </a:r>
            <a:endParaRPr lang="en-US" sz="1350" dirty="0"/>
          </a:p>
        </p:txBody>
      </p:sp>
      <p:sp>
        <p:nvSpPr>
          <p:cNvPr id="7" name="Text 5"/>
          <p:cNvSpPr/>
          <p:nvPr/>
        </p:nvSpPr>
        <p:spPr>
          <a:xfrm>
            <a:off x="1097280" y="1691640"/>
            <a:ext cx="7498080" cy="320040"/>
          </a:xfrm>
          <a:prstGeom prst="rect">
            <a:avLst/>
          </a:prstGeom>
          <a:noFill/>
          <a:ln/>
        </p:spPr>
        <p:txBody>
          <a:bodyPr wrap="square" lIns="0" tIns="0" rIns="0" bIns="0" rtlCol="0" anchor="ctr"/>
          <a:lstStyle/>
          <a:p>
            <a:pPr marL="0" indent="0">
              <a:buNone/>
            </a:pPr>
            <a:r>
              <a:rPr lang="en-US" sz="1100" dirty="0">
                <a:solidFill>
                  <a:srgbClr val="6E6E64"/>
                </a:solidFill>
                <a:latin typeface="Calibri" pitchFamily="34" charset="0"/>
                <a:ea typeface="Calibri" pitchFamily="34" charset="-122"/>
                <a:cs typeface="Calibri" pitchFamily="34" charset="-120"/>
              </a:rPr>
              <a:t>No insulation call until plumbing, electrical, mechanical, and gas are signed off.</a:t>
            </a:r>
            <a:endParaRPr lang="en-US" sz="1100" dirty="0"/>
          </a:p>
        </p:txBody>
      </p:sp>
      <p:sp>
        <p:nvSpPr>
          <p:cNvPr id="8" name="Shape 6"/>
          <p:cNvSpPr/>
          <p:nvPr/>
        </p:nvSpPr>
        <p:spPr>
          <a:xfrm>
            <a:off x="457200" y="2112264"/>
            <a:ext cx="475488" cy="475488"/>
          </a:xfrm>
          <a:prstGeom prst="ellipse">
            <a:avLst/>
          </a:prstGeom>
          <a:solidFill>
            <a:srgbClr val="5A6B2C"/>
          </a:solidFill>
          <a:ln/>
        </p:spPr>
        <p:txBody>
          <a:bodyPr/>
          <a:lstStyle/>
          <a:p>
            <a:endParaRPr lang="en-US"/>
          </a:p>
        </p:txBody>
      </p:sp>
      <p:sp>
        <p:nvSpPr>
          <p:cNvPr id="9" name="Text 7"/>
          <p:cNvSpPr/>
          <p:nvPr/>
        </p:nvSpPr>
        <p:spPr>
          <a:xfrm>
            <a:off x="457200" y="2112264"/>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1097280" y="2084832"/>
            <a:ext cx="7498080" cy="274320"/>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Thermal envelope complete</a:t>
            </a:r>
            <a:endParaRPr lang="en-US" sz="1350" dirty="0"/>
          </a:p>
        </p:txBody>
      </p:sp>
      <p:sp>
        <p:nvSpPr>
          <p:cNvPr id="11" name="Text 9"/>
          <p:cNvSpPr/>
          <p:nvPr/>
        </p:nvSpPr>
        <p:spPr>
          <a:xfrm>
            <a:off x="1097280" y="2359152"/>
            <a:ext cx="7498080" cy="320040"/>
          </a:xfrm>
          <a:prstGeom prst="rect">
            <a:avLst/>
          </a:prstGeom>
          <a:noFill/>
          <a:ln/>
        </p:spPr>
        <p:txBody>
          <a:bodyPr wrap="square" lIns="0" tIns="0" rIns="0" bIns="0" rtlCol="0" anchor="ctr"/>
          <a:lstStyle/>
          <a:p>
            <a:pPr marL="0" indent="0">
              <a:buNone/>
            </a:pPr>
            <a:r>
              <a:rPr lang="en-US" sz="1100" dirty="0">
                <a:solidFill>
                  <a:srgbClr val="6E6E64"/>
                </a:solidFill>
                <a:latin typeface="Calibri" pitchFamily="34" charset="0"/>
                <a:ea typeface="Calibri" pitchFamily="34" charset="-122"/>
                <a:cs typeface="Calibri" pitchFamily="34" charset="-120"/>
              </a:rPr>
              <a:t>Full contact, no voids or compression — grade the install, not the bag label.</a:t>
            </a:r>
            <a:endParaRPr lang="en-US" sz="1100" dirty="0"/>
          </a:p>
        </p:txBody>
      </p:sp>
      <p:sp>
        <p:nvSpPr>
          <p:cNvPr id="12" name="Shape 10"/>
          <p:cNvSpPr/>
          <p:nvPr/>
        </p:nvSpPr>
        <p:spPr>
          <a:xfrm>
            <a:off x="457200" y="2779776"/>
            <a:ext cx="475488" cy="475488"/>
          </a:xfrm>
          <a:prstGeom prst="ellipse">
            <a:avLst/>
          </a:prstGeom>
          <a:solidFill>
            <a:srgbClr val="5A6B2C"/>
          </a:solidFill>
          <a:ln/>
        </p:spPr>
        <p:txBody>
          <a:bodyPr/>
          <a:lstStyle/>
          <a:p>
            <a:endParaRPr lang="en-US"/>
          </a:p>
        </p:txBody>
      </p:sp>
      <p:sp>
        <p:nvSpPr>
          <p:cNvPr id="13" name="Text 11"/>
          <p:cNvSpPr/>
          <p:nvPr/>
        </p:nvSpPr>
        <p:spPr>
          <a:xfrm>
            <a:off x="457200" y="2779776"/>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p:nvPr/>
        </p:nvSpPr>
        <p:spPr>
          <a:xfrm>
            <a:off x="1097280" y="2752344"/>
            <a:ext cx="7498080" cy="274320"/>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Air sealing &amp; baffles</a:t>
            </a:r>
            <a:endParaRPr lang="en-US" sz="1350" dirty="0"/>
          </a:p>
        </p:txBody>
      </p:sp>
      <p:sp>
        <p:nvSpPr>
          <p:cNvPr id="15" name="Text 13"/>
          <p:cNvSpPr/>
          <p:nvPr/>
        </p:nvSpPr>
        <p:spPr>
          <a:xfrm>
            <a:off x="1097280" y="3026664"/>
            <a:ext cx="7498080" cy="320040"/>
          </a:xfrm>
          <a:prstGeom prst="rect">
            <a:avLst/>
          </a:prstGeom>
          <a:noFill/>
          <a:ln/>
        </p:spPr>
        <p:txBody>
          <a:bodyPr wrap="square" lIns="0" tIns="0" rIns="0" bIns="0" rtlCol="0" anchor="ctr"/>
          <a:lstStyle/>
          <a:p>
            <a:pPr marL="0" indent="0">
              <a:buNone/>
            </a:pPr>
            <a:r>
              <a:rPr lang="en-US" sz="1100" dirty="0">
                <a:solidFill>
                  <a:srgbClr val="6E6E64"/>
                </a:solidFill>
                <a:latin typeface="Calibri" pitchFamily="34" charset="0"/>
                <a:ea typeface="Calibri" pitchFamily="34" charset="-122"/>
                <a:cs typeface="Calibri" pitchFamily="34" charset="-120"/>
              </a:rPr>
              <a:t>Continuity items done; ventilation channels open at eaves.</a:t>
            </a:r>
            <a:endParaRPr lang="en-US" sz="1100" dirty="0"/>
          </a:p>
        </p:txBody>
      </p:sp>
      <p:sp>
        <p:nvSpPr>
          <p:cNvPr id="16" name="Shape 14"/>
          <p:cNvSpPr/>
          <p:nvPr/>
        </p:nvSpPr>
        <p:spPr>
          <a:xfrm>
            <a:off x="457200" y="3447288"/>
            <a:ext cx="475488" cy="475488"/>
          </a:xfrm>
          <a:prstGeom prst="ellipse">
            <a:avLst/>
          </a:prstGeom>
          <a:solidFill>
            <a:srgbClr val="5A6B2C"/>
          </a:solidFill>
          <a:ln/>
        </p:spPr>
        <p:txBody>
          <a:bodyPr/>
          <a:lstStyle/>
          <a:p>
            <a:endParaRPr lang="en-US"/>
          </a:p>
        </p:txBody>
      </p:sp>
      <p:sp>
        <p:nvSpPr>
          <p:cNvPr id="17" name="Text 15"/>
          <p:cNvSpPr/>
          <p:nvPr/>
        </p:nvSpPr>
        <p:spPr>
          <a:xfrm>
            <a:off x="457200" y="3447288"/>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8" name="Text 16"/>
          <p:cNvSpPr/>
          <p:nvPr/>
        </p:nvSpPr>
        <p:spPr>
          <a:xfrm>
            <a:off x="1097280" y="3419856"/>
            <a:ext cx="7498080" cy="274320"/>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Certifications in hand</a:t>
            </a:r>
            <a:endParaRPr lang="en-US" sz="1350" dirty="0"/>
          </a:p>
        </p:txBody>
      </p:sp>
      <p:sp>
        <p:nvSpPr>
          <p:cNvPr id="19" name="Text 17"/>
          <p:cNvSpPr/>
          <p:nvPr/>
        </p:nvSpPr>
        <p:spPr>
          <a:xfrm>
            <a:off x="1097280" y="3694176"/>
            <a:ext cx="7498080" cy="320040"/>
          </a:xfrm>
          <a:prstGeom prst="rect">
            <a:avLst/>
          </a:prstGeom>
          <a:noFill/>
          <a:ln/>
        </p:spPr>
        <p:txBody>
          <a:bodyPr wrap="square" lIns="0" tIns="0" rIns="0" bIns="0" rtlCol="0" anchor="ctr"/>
          <a:lstStyle/>
          <a:p>
            <a:pPr marL="0" indent="0">
              <a:buNone/>
            </a:pPr>
            <a:r>
              <a:rPr lang="en-US" sz="1100" dirty="0">
                <a:solidFill>
                  <a:srgbClr val="6E6E64"/>
                </a:solidFill>
                <a:latin typeface="Calibri" pitchFamily="34" charset="0"/>
                <a:ea typeface="Calibri" pitchFamily="34" charset="-122"/>
                <a:cs typeface="Calibri" pitchFamily="34" charset="-120"/>
              </a:rPr>
              <a:t>Insulation letter or shower-pan letter ready where accepted in lieu of inspection.</a:t>
            </a:r>
            <a:endParaRPr lang="en-US" sz="1100" dirty="0"/>
          </a:p>
        </p:txBody>
      </p:sp>
      <p:sp>
        <p:nvSpPr>
          <p:cNvPr id="20" name="Shape 18"/>
          <p:cNvSpPr/>
          <p:nvPr/>
        </p:nvSpPr>
        <p:spPr>
          <a:xfrm>
            <a:off x="457200" y="4114800"/>
            <a:ext cx="475488" cy="475488"/>
          </a:xfrm>
          <a:prstGeom prst="ellipse">
            <a:avLst/>
          </a:prstGeom>
          <a:solidFill>
            <a:srgbClr val="B0442E"/>
          </a:solidFill>
          <a:ln/>
        </p:spPr>
        <p:txBody>
          <a:bodyPr/>
          <a:lstStyle/>
          <a:p>
            <a:endParaRPr lang="en-US"/>
          </a:p>
        </p:txBody>
      </p:sp>
      <p:sp>
        <p:nvSpPr>
          <p:cNvPr id="21" name="Text 19"/>
          <p:cNvSpPr/>
          <p:nvPr/>
        </p:nvSpPr>
        <p:spPr>
          <a:xfrm>
            <a:off x="457200" y="4114800"/>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2" name="Text 20"/>
          <p:cNvSpPr/>
          <p:nvPr/>
        </p:nvSpPr>
        <p:spPr>
          <a:xfrm>
            <a:off x="1097280" y="4087368"/>
            <a:ext cx="7498080" cy="274320"/>
          </a:xfrm>
          <a:prstGeom prst="rect">
            <a:avLst/>
          </a:prstGeom>
          <a:noFill/>
          <a:ln/>
        </p:spPr>
        <p:txBody>
          <a:bodyPr wrap="square" lIns="0" tIns="0" rIns="0" bIns="0" rtlCol="0" anchor="ctr"/>
          <a:lstStyle/>
          <a:p>
            <a:pPr marL="0" indent="0">
              <a:buNone/>
            </a:pPr>
            <a:r>
              <a:rPr lang="en-US" sz="1350" b="1" dirty="0">
                <a:solidFill>
                  <a:srgbClr val="1B1B12"/>
                </a:solidFill>
                <a:latin typeface="Calibri" pitchFamily="34" charset="0"/>
                <a:ea typeface="Calibri" pitchFamily="34" charset="-122"/>
                <a:cs typeface="Calibri" pitchFamily="34" charset="-120"/>
              </a:rPr>
              <a:t>Nothing covered early</a:t>
            </a:r>
            <a:endParaRPr lang="en-US" sz="1350" dirty="0"/>
          </a:p>
        </p:txBody>
      </p:sp>
      <p:sp>
        <p:nvSpPr>
          <p:cNvPr id="23" name="Text 21"/>
          <p:cNvSpPr/>
          <p:nvPr/>
        </p:nvSpPr>
        <p:spPr>
          <a:xfrm>
            <a:off x="1097280" y="4361688"/>
            <a:ext cx="7498080" cy="320040"/>
          </a:xfrm>
          <a:prstGeom prst="rect">
            <a:avLst/>
          </a:prstGeom>
          <a:noFill/>
          <a:ln/>
        </p:spPr>
        <p:txBody>
          <a:bodyPr wrap="square" lIns="0" tIns="0" rIns="0" bIns="0" rtlCol="0" anchor="ctr"/>
          <a:lstStyle/>
          <a:p>
            <a:pPr marL="0" indent="0">
              <a:buNone/>
            </a:pPr>
            <a:r>
              <a:rPr lang="en-US" sz="1100" dirty="0">
                <a:solidFill>
                  <a:srgbClr val="6E6E64"/>
                </a:solidFill>
                <a:latin typeface="Calibri" pitchFamily="34" charset="0"/>
                <a:ea typeface="Calibri" pitchFamily="34" charset="-122"/>
                <a:cs typeface="Calibri" pitchFamily="34" charset="-120"/>
              </a:rPr>
              <a:t>Drywall stays in the stack until the approval is documented.</a:t>
            </a:r>
            <a:endParaRPr lang="en-US" sz="1100" dirty="0"/>
          </a:p>
        </p:txBody>
      </p:sp>
      <p:sp>
        <p:nvSpPr>
          <p:cNvPr id="24" name="Text 22"/>
          <p:cNvSpPr/>
          <p:nvPr/>
        </p:nvSpPr>
        <p:spPr>
          <a:xfrm>
            <a:off x="457200" y="4828032"/>
            <a:ext cx="8229600" cy="274320"/>
          </a:xfrm>
          <a:prstGeom prst="rect">
            <a:avLst/>
          </a:prstGeom>
          <a:noFill/>
          <a:ln/>
        </p:spPr>
        <p:txBody>
          <a:bodyPr wrap="square" lIns="0" tIns="0" rIns="0" bIns="0" rtlCol="0" anchor="ctr"/>
          <a:lstStyle/>
          <a:p>
            <a:pPr marL="0" indent="0">
              <a:buNone/>
            </a:pPr>
            <a:r>
              <a:rPr lang="en-US" sz="850" b="1" dirty="0">
                <a:solidFill>
                  <a:srgbClr val="5A6B2C"/>
                </a:solidFill>
                <a:latin typeface="Calibri" pitchFamily="34" charset="0"/>
                <a:ea typeface="Calibri" pitchFamily="34" charset="-122"/>
                <a:cs typeface="Calibri" pitchFamily="34" charset="-120"/>
              </a:rPr>
              <a:t>REFERENCE:  </a:t>
            </a:r>
            <a:r>
              <a:rPr lang="en-US" sz="850" dirty="0">
                <a:solidFill>
                  <a:srgbClr val="6E6E64"/>
                </a:solidFill>
                <a:latin typeface="Calibri" pitchFamily="34" charset="0"/>
                <a:ea typeface="Calibri" pitchFamily="34" charset="-122"/>
                <a:cs typeface="Calibri" pitchFamily="34" charset="-120"/>
              </a:rPr>
              <a:t>checklists docx §11  ·  ROCKWOOL product folder  ·  Building Dept inspections PDF</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300" dirty="0">
                <a:solidFill>
                  <a:srgbClr val="5A6B2C"/>
                </a:solidFill>
                <a:latin typeface="Calibri" pitchFamily="34" charset="0"/>
                <a:ea typeface="Calibri" pitchFamily="34" charset="-122"/>
                <a:cs typeface="Calibri" pitchFamily="34" charset="-120"/>
              </a:rPr>
              <a:t>THE DISCIPLINE</a:t>
            </a:r>
            <a:endParaRPr lang="en-US" sz="12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1B1B12"/>
                </a:solidFill>
                <a:latin typeface="Cambria" pitchFamily="34" charset="0"/>
                <a:ea typeface="Cambria" pitchFamily="34" charset="-122"/>
                <a:cs typeface="Cambria" pitchFamily="34" charset="-120"/>
              </a:rPr>
              <a:t>Five rules that prevent demolition orders</a:t>
            </a:r>
            <a:endParaRPr lang="en-US" sz="3000" dirty="0"/>
          </a:p>
        </p:txBody>
      </p:sp>
      <p:pic>
        <p:nvPicPr>
          <p:cNvPr id="4" name="Image 0" descr="assets/d2_holdpoints.png"/>
          <p:cNvPicPr>
            <a:picLocks noChangeAspect="1"/>
          </p:cNvPicPr>
          <p:nvPr/>
        </p:nvPicPr>
        <p:blipFill>
          <a:blip r:embed="rId3"/>
          <a:stretch>
            <a:fillRect/>
          </a:stretch>
        </p:blipFill>
        <p:spPr>
          <a:xfrm>
            <a:off x="1051560" y="1325880"/>
            <a:ext cx="7040880" cy="3383280"/>
          </a:xfrm>
          <a:prstGeom prst="rect">
            <a:avLst/>
          </a:prstGeom>
        </p:spPr>
      </p:pic>
      <p:sp>
        <p:nvSpPr>
          <p:cNvPr id="5" name="Text 2"/>
          <p:cNvSpPr/>
          <p:nvPr/>
        </p:nvSpPr>
        <p:spPr>
          <a:xfrm>
            <a:off x="457200" y="4828032"/>
            <a:ext cx="8229600" cy="274320"/>
          </a:xfrm>
          <a:prstGeom prst="rect">
            <a:avLst/>
          </a:prstGeom>
          <a:noFill/>
          <a:ln/>
        </p:spPr>
        <p:txBody>
          <a:bodyPr wrap="square" lIns="0" tIns="0" rIns="0" bIns="0" rtlCol="0" anchor="ctr"/>
          <a:lstStyle/>
          <a:p>
            <a:pPr marL="0" indent="0">
              <a:buNone/>
            </a:pPr>
            <a:r>
              <a:rPr lang="en-US" sz="850" b="1" dirty="0">
                <a:solidFill>
                  <a:srgbClr val="5A6B2C"/>
                </a:solidFill>
                <a:latin typeface="Calibri" pitchFamily="34" charset="0"/>
                <a:ea typeface="Calibri" pitchFamily="34" charset="-122"/>
                <a:cs typeface="Calibri" pitchFamily="34" charset="-120"/>
              </a:rPr>
              <a:t>REFERENCE:  </a:t>
            </a:r>
            <a:r>
              <a:rPr lang="en-US" sz="850" dirty="0">
                <a:solidFill>
                  <a:srgbClr val="6E6E64"/>
                </a:solidFill>
                <a:latin typeface="Calibri" pitchFamily="34" charset="0"/>
                <a:ea typeface="Calibri" pitchFamily="34" charset="-122"/>
                <a:cs typeface="Calibri" pitchFamily="34" charset="-120"/>
              </a:rPr>
              <a:t>checklists docx §13 (field hold points)  ·  Building Dept inspections PDF</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200" b="1" kern="0" spc="300" dirty="0">
                <a:solidFill>
                  <a:srgbClr val="5A6B2C"/>
                </a:solidFill>
                <a:latin typeface="Calibri" pitchFamily="34" charset="0"/>
                <a:ea typeface="Calibri" pitchFamily="34" charset="-122"/>
                <a:cs typeface="Calibri" pitchFamily="34" charset="-120"/>
              </a:rPr>
              <a:t>PHASE 10 · FINALS &amp; C.O.</a:t>
            </a:r>
            <a:endParaRPr lang="en-US" sz="12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marL="0" indent="0">
              <a:buNone/>
            </a:pPr>
            <a:r>
              <a:rPr lang="en-US" sz="3000" b="1" dirty="0">
                <a:solidFill>
                  <a:srgbClr val="1B1B12"/>
                </a:solidFill>
                <a:latin typeface="Cambria" pitchFamily="34" charset="0"/>
                <a:ea typeface="Cambria" pitchFamily="34" charset="-122"/>
                <a:cs typeface="Cambria" pitchFamily="34" charset="-120"/>
              </a:rPr>
              <a:t>Done means documented</a:t>
            </a:r>
            <a:endParaRPr lang="en-US" sz="3000" dirty="0"/>
          </a:p>
        </p:txBody>
      </p:sp>
      <p:sp>
        <p:nvSpPr>
          <p:cNvPr id="4" name="Shape 2"/>
          <p:cNvSpPr/>
          <p:nvPr/>
        </p:nvSpPr>
        <p:spPr>
          <a:xfrm>
            <a:off x="457200" y="1463040"/>
            <a:ext cx="3977640" cy="3063240"/>
          </a:xfrm>
          <a:prstGeom prst="roundRect">
            <a:avLst>
              <a:gd name="adj" fmla="val 2388"/>
            </a:avLst>
          </a:prstGeom>
          <a:solidFill>
            <a:srgbClr val="EFF1E4"/>
          </a:solidFill>
          <a:ln w="12700">
            <a:solidFill>
              <a:srgbClr val="5A6B2C"/>
            </a:solidFill>
            <a:prstDash val="solid"/>
          </a:ln>
        </p:spPr>
        <p:txBody>
          <a:bodyPr/>
          <a:lstStyle/>
          <a:p>
            <a:endParaRPr lang="en-US"/>
          </a:p>
        </p:txBody>
      </p:sp>
      <p:sp>
        <p:nvSpPr>
          <p:cNvPr id="5" name="Text 3"/>
          <p:cNvSpPr/>
          <p:nvPr/>
        </p:nvSpPr>
        <p:spPr>
          <a:xfrm>
            <a:off x="685800" y="1645920"/>
            <a:ext cx="3474720" cy="274320"/>
          </a:xfrm>
          <a:prstGeom prst="rect">
            <a:avLst/>
          </a:prstGeom>
          <a:noFill/>
          <a:ln/>
        </p:spPr>
        <p:txBody>
          <a:bodyPr wrap="square" lIns="0" tIns="0" rIns="0" bIns="0" rtlCol="0" anchor="ctr"/>
          <a:lstStyle/>
          <a:p>
            <a:pPr marL="0" indent="0">
              <a:buNone/>
            </a:pPr>
            <a:r>
              <a:rPr lang="en-US" sz="1250" b="1" kern="0" spc="200" dirty="0">
                <a:solidFill>
                  <a:srgbClr val="5A6B2C"/>
                </a:solidFill>
                <a:latin typeface="Calibri" pitchFamily="34" charset="0"/>
                <a:ea typeface="Calibri" pitchFamily="34" charset="-122"/>
                <a:cs typeface="Calibri" pitchFamily="34" charset="-120"/>
              </a:rPr>
              <a:t>FINAL SEQUENCE</a:t>
            </a:r>
            <a:endParaRPr lang="en-US" sz="1250" dirty="0"/>
          </a:p>
        </p:txBody>
      </p:sp>
      <p:sp>
        <p:nvSpPr>
          <p:cNvPr id="6" name="Text 4"/>
          <p:cNvSpPr/>
          <p:nvPr/>
        </p:nvSpPr>
        <p:spPr>
          <a:xfrm>
            <a:off x="685800" y="2011680"/>
            <a:ext cx="3520440" cy="23317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B1B12"/>
                </a:solidFill>
                <a:latin typeface="Calibri" pitchFamily="34" charset="0"/>
                <a:ea typeface="Calibri" pitchFamily="34" charset="-122"/>
                <a:cs typeface="Calibri" pitchFamily="34" charset="-120"/>
              </a:rPr>
              <a:t>Final trade inspections approved — electrical, mechanical, plumbing, gas</a:t>
            </a:r>
            <a:endParaRPr lang="en-US" sz="1200" dirty="0"/>
          </a:p>
          <a:p>
            <a:pPr marL="342900" indent="-342900">
              <a:spcAft>
                <a:spcPts val="600"/>
              </a:spcAft>
              <a:buSzPct val="100000"/>
              <a:buChar char="•"/>
            </a:pPr>
            <a:r>
              <a:rPr lang="en-US" sz="1200" dirty="0">
                <a:solidFill>
                  <a:srgbClr val="1B1B12"/>
                </a:solidFill>
                <a:latin typeface="Calibri" pitchFamily="34" charset="0"/>
                <a:ea typeface="Calibri" pitchFamily="34" charset="-122"/>
                <a:cs typeface="Calibri" pitchFamily="34" charset="-120"/>
              </a:rPr>
              <a:t>Final building inspection scheduled after trade finals</a:t>
            </a:r>
            <a:endParaRPr lang="en-US" sz="1200" dirty="0"/>
          </a:p>
          <a:p>
            <a:pPr marL="342900" indent="-342900">
              <a:spcAft>
                <a:spcPts val="600"/>
              </a:spcAft>
              <a:buSzPct val="100000"/>
              <a:buChar char="•"/>
            </a:pPr>
            <a:r>
              <a:rPr lang="en-US" sz="1200" dirty="0">
                <a:solidFill>
                  <a:srgbClr val="1B1B12"/>
                </a:solidFill>
                <a:latin typeface="Calibri" pitchFamily="34" charset="0"/>
                <a:ea typeface="Calibri" pitchFamily="34" charset="-122"/>
                <a:cs typeface="Calibri" pitchFamily="34" charset="-120"/>
              </a:rPr>
              <a:t>Site &amp; exterior conditions support approval</a:t>
            </a:r>
            <a:endParaRPr lang="en-US" sz="1200" dirty="0"/>
          </a:p>
          <a:p>
            <a:pPr marL="342900" indent="-342900">
              <a:spcAft>
                <a:spcPts val="600"/>
              </a:spcAft>
              <a:buSzPct val="100000"/>
              <a:buChar char="•"/>
            </a:pPr>
            <a:r>
              <a:rPr lang="en-US" sz="1200" dirty="0">
                <a:solidFill>
                  <a:srgbClr val="1B1B12"/>
                </a:solidFill>
                <a:latin typeface="Calibri" pitchFamily="34" charset="0"/>
                <a:ea typeface="Calibri" pitchFamily="34" charset="-122"/>
                <a:cs typeface="Calibri" pitchFamily="34" charset="-120"/>
              </a:rPr>
              <a:t>Certificate of Occupancy issued — then utilities transfer</a:t>
            </a:r>
            <a:endParaRPr lang="en-US" sz="1200" dirty="0"/>
          </a:p>
        </p:txBody>
      </p:sp>
      <p:sp>
        <p:nvSpPr>
          <p:cNvPr id="7" name="Shape 5"/>
          <p:cNvSpPr/>
          <p:nvPr/>
        </p:nvSpPr>
        <p:spPr>
          <a:xfrm>
            <a:off x="4709160" y="1463040"/>
            <a:ext cx="3977640" cy="3063240"/>
          </a:xfrm>
          <a:prstGeom prst="roundRect">
            <a:avLst>
              <a:gd name="adj" fmla="val 2388"/>
            </a:avLst>
          </a:prstGeom>
          <a:solidFill>
            <a:srgbClr val="1B1B12"/>
          </a:solidFill>
          <a:ln w="12700">
            <a:solidFill>
              <a:srgbClr val="1B1B12"/>
            </a:solidFill>
            <a:prstDash val="solid"/>
          </a:ln>
        </p:spPr>
        <p:txBody>
          <a:bodyPr/>
          <a:lstStyle/>
          <a:p>
            <a:endParaRPr lang="en-US"/>
          </a:p>
        </p:txBody>
      </p:sp>
      <p:sp>
        <p:nvSpPr>
          <p:cNvPr id="8" name="Text 6"/>
          <p:cNvSpPr/>
          <p:nvPr/>
        </p:nvSpPr>
        <p:spPr>
          <a:xfrm>
            <a:off x="4937760" y="1645920"/>
            <a:ext cx="3566160" cy="274320"/>
          </a:xfrm>
          <a:prstGeom prst="rect">
            <a:avLst/>
          </a:prstGeom>
          <a:noFill/>
          <a:ln/>
        </p:spPr>
        <p:txBody>
          <a:bodyPr wrap="square" lIns="0" tIns="0" rIns="0" bIns="0" rtlCol="0" anchor="ctr"/>
          <a:lstStyle/>
          <a:p>
            <a:pPr marL="0" indent="0">
              <a:buNone/>
            </a:pPr>
            <a:r>
              <a:rPr lang="en-US" sz="1250" b="1" kern="0" spc="200" dirty="0">
                <a:solidFill>
                  <a:srgbClr val="9EAB05"/>
                </a:solidFill>
                <a:latin typeface="Calibri" pitchFamily="34" charset="0"/>
                <a:ea typeface="Calibri" pitchFamily="34" charset="-122"/>
                <a:cs typeface="Calibri" pitchFamily="34" charset="-120"/>
              </a:rPr>
              <a:t>THE 14-CHECKLIST SYSTEM</a:t>
            </a:r>
            <a:endParaRPr lang="en-US" sz="1250" dirty="0"/>
          </a:p>
        </p:txBody>
      </p:sp>
      <p:sp>
        <p:nvSpPr>
          <p:cNvPr id="9" name="Text 7"/>
          <p:cNvSpPr/>
          <p:nvPr/>
        </p:nvSpPr>
        <p:spPr>
          <a:xfrm>
            <a:off x="4937760" y="2011680"/>
            <a:ext cx="3566160" cy="2377440"/>
          </a:xfrm>
          <a:prstGeom prst="rect">
            <a:avLst/>
          </a:prstGeom>
          <a:noFill/>
          <a:ln/>
        </p:spPr>
        <p:txBody>
          <a:bodyPr wrap="square" lIns="0" tIns="0" rIns="0" bIns="0" rtlCol="0" anchor="ctr"/>
          <a:lstStyle/>
          <a:p>
            <a:pPr marL="0" indent="0">
              <a:buNone/>
            </a:pPr>
            <a:r>
              <a:rPr lang="en-US" sz="1200" dirty="0">
                <a:solidFill>
                  <a:srgbClr val="E8EBDA"/>
                </a:solidFill>
                <a:latin typeface="Calibri" pitchFamily="34" charset="0"/>
                <a:ea typeface="Calibri" pitchFamily="34" charset="-122"/>
                <a:cs typeface="Calibri" pitchFamily="34" charset="-120"/>
              </a:rPr>
              <a:t>Every phase in this course maps to a printable pre-inspection sheet — site readiness through final sign-off, plus the daily trench sheet and the master sign-off table.</a:t>
            </a:r>
            <a:endParaRPr lang="en-US" sz="1200" dirty="0"/>
          </a:p>
          <a:p>
            <a:pPr marL="0" indent="0">
              <a:buNone/>
            </a:pPr>
            <a:endParaRPr lang="en-US" sz="1200" dirty="0"/>
          </a:p>
          <a:p>
            <a:pPr marL="0" indent="0">
              <a:buNone/>
            </a:pPr>
            <a:r>
              <a:rPr lang="en-US" sz="1200" dirty="0">
                <a:solidFill>
                  <a:srgbClr val="E8EBDA"/>
                </a:solidFill>
                <a:latin typeface="Calibri" pitchFamily="34" charset="0"/>
                <a:ea typeface="Calibri" pitchFamily="34" charset="-122"/>
                <a:cs typeface="Calibri" pitchFamily="34" charset="-120"/>
              </a:rPr>
              <a:t>Use them as QC before every inspection call: find your own corrections before the inspector finds them for you.</a:t>
            </a:r>
            <a:endParaRPr lang="en-US" sz="1200" dirty="0"/>
          </a:p>
        </p:txBody>
      </p:sp>
      <p:sp>
        <p:nvSpPr>
          <p:cNvPr id="10" name="Text 8"/>
          <p:cNvSpPr/>
          <p:nvPr/>
        </p:nvSpPr>
        <p:spPr>
          <a:xfrm>
            <a:off x="457200" y="4828032"/>
            <a:ext cx="8229600" cy="274320"/>
          </a:xfrm>
          <a:prstGeom prst="rect">
            <a:avLst/>
          </a:prstGeom>
          <a:noFill/>
          <a:ln/>
        </p:spPr>
        <p:txBody>
          <a:bodyPr wrap="square" lIns="0" tIns="0" rIns="0" bIns="0" rtlCol="0" anchor="ctr"/>
          <a:lstStyle/>
          <a:p>
            <a:pPr marL="0" indent="0">
              <a:buNone/>
            </a:pPr>
            <a:r>
              <a:rPr lang="en-US" sz="850" b="1" dirty="0">
                <a:solidFill>
                  <a:srgbClr val="5A6B2C"/>
                </a:solidFill>
                <a:latin typeface="Calibri" pitchFamily="34" charset="0"/>
                <a:ea typeface="Calibri" pitchFamily="34" charset="-122"/>
                <a:cs typeface="Calibri" pitchFamily="34" charset="-120"/>
              </a:rPr>
              <a:t>REFERENCE:  </a:t>
            </a:r>
            <a:r>
              <a:rPr lang="en-US" sz="850" dirty="0">
                <a:solidFill>
                  <a:srgbClr val="6E6E64"/>
                </a:solidFill>
                <a:latin typeface="Calibri" pitchFamily="34" charset="0"/>
                <a:ea typeface="Calibri" pitchFamily="34" charset="-122"/>
                <a:cs typeface="Calibri" pitchFamily="34" charset="-120"/>
              </a:rPr>
              <a:t>building_construction_phase_checklists.docx §12–§14 (finals, hold points, sign-off sheet)</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B12"/>
        </a:solidFill>
        <a:effectLst/>
      </p:bgPr>
    </p:bg>
    <p:spTree>
      <p:nvGrpSpPr>
        <p:cNvPr id="1" name=""/>
        <p:cNvGrpSpPr/>
        <p:nvPr/>
      </p:nvGrpSpPr>
      <p:grpSpPr>
        <a:xfrm>
          <a:off x="0" y="0"/>
          <a:ext cx="0" cy="0"/>
          <a:chOff x="0" y="0"/>
          <a:chExt cx="0" cy="0"/>
        </a:xfrm>
      </p:grpSpPr>
      <p:sp>
        <p:nvSpPr>
          <p:cNvPr id="2" name="Text 0"/>
          <p:cNvSpPr/>
          <p:nvPr/>
        </p:nvSpPr>
        <p:spPr>
          <a:xfrm>
            <a:off x="502920" y="1371600"/>
            <a:ext cx="8138160" cy="7772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Build in order.</a:t>
            </a:r>
            <a:endParaRPr lang="en-US" sz="4400" dirty="0"/>
          </a:p>
        </p:txBody>
      </p:sp>
      <p:sp>
        <p:nvSpPr>
          <p:cNvPr id="3" name="Text 1"/>
          <p:cNvSpPr/>
          <p:nvPr/>
        </p:nvSpPr>
        <p:spPr>
          <a:xfrm>
            <a:off x="502920" y="2194560"/>
            <a:ext cx="8138160" cy="777240"/>
          </a:xfrm>
          <a:prstGeom prst="rect">
            <a:avLst/>
          </a:prstGeom>
          <a:noFill/>
          <a:ln/>
        </p:spPr>
        <p:txBody>
          <a:bodyPr wrap="square" lIns="0" tIns="0" rIns="0" bIns="0" rtlCol="0" anchor="ctr"/>
          <a:lstStyle/>
          <a:p>
            <a:pPr marL="0" indent="0">
              <a:buNone/>
            </a:pPr>
            <a:r>
              <a:rPr lang="en-US" sz="3400" b="1" dirty="0">
                <a:solidFill>
                  <a:srgbClr val="9EAB05"/>
                </a:solidFill>
                <a:latin typeface="Cambria" pitchFamily="34" charset="0"/>
                <a:ea typeface="Cambria" pitchFamily="34" charset="-122"/>
                <a:cs typeface="Cambria" pitchFamily="34" charset="-120"/>
              </a:rPr>
              <a:t>Pass every gate the first time.</a:t>
            </a:r>
            <a:endParaRPr lang="en-US" sz="3400" dirty="0"/>
          </a:p>
        </p:txBody>
      </p:sp>
      <p:sp>
        <p:nvSpPr>
          <p:cNvPr id="4" name="Text 2"/>
          <p:cNvSpPr/>
          <p:nvPr/>
        </p:nvSpPr>
        <p:spPr>
          <a:xfrm>
            <a:off x="502920" y="3200400"/>
            <a:ext cx="7772400" cy="685800"/>
          </a:xfrm>
          <a:prstGeom prst="rect">
            <a:avLst/>
          </a:prstGeom>
          <a:noFill/>
          <a:ln/>
        </p:spPr>
        <p:txBody>
          <a:bodyPr wrap="square" lIns="0" tIns="0" rIns="0" bIns="0" rtlCol="0" anchor="ctr"/>
          <a:lstStyle/>
          <a:p>
            <a:pPr marL="0" indent="0">
              <a:buNone/>
            </a:pPr>
            <a:r>
              <a:rPr lang="en-US" sz="1300" dirty="0">
                <a:solidFill>
                  <a:srgbClr val="DDE0CC"/>
                </a:solidFill>
                <a:latin typeface="Calibri" pitchFamily="34" charset="0"/>
                <a:ea typeface="Calibri" pitchFamily="34" charset="-122"/>
                <a:cs typeface="Calibri" pitchFamily="34" charset="-120"/>
              </a:rPr>
              <a:t>10 phases · 4 inspection gates · 14 printable field checklists · hands-on flashing lab</a:t>
            </a:r>
            <a:endParaRPr lang="en-US" sz="1300" dirty="0"/>
          </a:p>
          <a:p>
            <a:pPr marL="0" indent="0">
              <a:buNone/>
            </a:pPr>
            <a:r>
              <a:rPr lang="en-US" sz="1300" dirty="0">
                <a:solidFill>
                  <a:srgbClr val="DDE0CC"/>
                </a:solidFill>
                <a:latin typeface="Calibri" pitchFamily="34" charset="0"/>
                <a:ea typeface="Calibri" pitchFamily="34" charset="-122"/>
                <a:cs typeface="Calibri" pitchFamily="34" charset="-120"/>
              </a:rPr>
              <a:t>Completion feeds the M4Academy employer interview pipeline.</a:t>
            </a:r>
            <a:endParaRPr lang="en-US" sz="1300" dirty="0"/>
          </a:p>
        </p:txBody>
      </p:sp>
      <p:sp>
        <p:nvSpPr>
          <p:cNvPr id="5" name="Text 3"/>
          <p:cNvSpPr/>
          <p:nvPr/>
        </p:nvSpPr>
        <p:spPr>
          <a:xfrm>
            <a:off x="502920" y="4434840"/>
            <a:ext cx="8138160" cy="274320"/>
          </a:xfrm>
          <a:prstGeom prst="rect">
            <a:avLst/>
          </a:prstGeom>
          <a:noFill/>
          <a:ln/>
        </p:spPr>
        <p:txBody>
          <a:bodyPr wrap="square" lIns="0" tIns="0" rIns="0" bIns="0" rtlCol="0" anchor="ctr"/>
          <a:lstStyle/>
          <a:p>
            <a:pPr marL="0" indent="0">
              <a:buNone/>
            </a:pPr>
            <a:r>
              <a:rPr lang="en-US" sz="1000" b="1" kern="0" spc="200" dirty="0">
                <a:solidFill>
                  <a:srgbClr val="5A6B2C"/>
                </a:solidFill>
                <a:latin typeface="Calibri" pitchFamily="34" charset="0"/>
                <a:ea typeface="Calibri" pitchFamily="34" charset="-122"/>
                <a:cs typeface="Calibri" pitchFamily="34" charset="-120"/>
              </a:rPr>
              <a:t>M4ACADEMY  ·  A MERGE 4 DESIGN INITIATIVE  ·  IN PARTNERSHIP WITH L.E.E.P., INC.</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1782</Words>
  <Application>Microsoft Office PowerPoint</Application>
  <PresentationFormat>On-screen Show (16:9)</PresentationFormat>
  <Paragraphs>148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Construction Sequence &amp; Inspection Readiness</dc:title>
  <dc:subject>PptxGenJS Presentation</dc:subject>
  <dc:creator>M4Academy · a Merge 4 Design initiative</dc:creator>
  <cp:lastModifiedBy>David Ainsworth</cp:lastModifiedBy>
  <cp:revision>1</cp:revision>
  <dcterms:created xsi:type="dcterms:W3CDTF">2026-07-02T12:56:49Z</dcterms:created>
  <dcterms:modified xsi:type="dcterms:W3CDTF">2026-07-02T13:01:46Z</dcterms:modified>
</cp:coreProperties>
</file>